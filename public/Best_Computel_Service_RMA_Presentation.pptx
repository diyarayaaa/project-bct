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97316"/>
          </a:solidFill>
          <a:ln/>
        </p:spPr>
      </p:sp>
      <p:sp>
        <p:nvSpPr>
          <p:cNvPr id="3" name="Shape 1"/>
          <p:cNvSpPr/>
          <p:nvPr/>
        </p:nvSpPr>
        <p:spPr>
          <a:xfrm>
            <a:off x="1097280" y="1005840"/>
            <a:ext cx="3108960" cy="292608"/>
          </a:xfrm>
          <a:prstGeom prst="rect">
            <a:avLst>
              <a:gd name="adj" fmla="val 12500"/>
            </a:avLst>
          </a:prstGeom>
          <a:solidFill>
            <a:srgbClr val="1E293B"/>
          </a:solidFill>
          <a:ln w="12700">
            <a:solidFill>
              <a:srgbClr val="F97316"/>
            </a:solidFill>
            <a:prstDash val="solid"/>
          </a:ln>
        </p:spPr>
      </p:sp>
      <p:sp>
        <p:nvSpPr>
          <p:cNvPr id="4" name="Text 2"/>
          <p:cNvSpPr/>
          <p:nvPr/>
        </p:nvSpPr>
        <p:spPr>
          <a:xfrm>
            <a:off x="1097280" y="1024128"/>
            <a:ext cx="3108960" cy="256032"/>
          </a:xfrm>
          <a:prstGeom prst="rect">
            <a:avLst/>
          </a:prstGeom>
          <a:noFill/>
          <a:ln/>
        </p:spPr>
        <p:txBody>
          <a:bodyPr wrap="square" lIns="0" tIns="0" rIns="0" bIns="0" rtlCol="0" anchor="ctr"/>
          <a:lstStyle/>
          <a:p>
            <a:pPr algn="ctr" indent="0" marL="0">
              <a:buNone/>
            </a:pPr>
            <a:r>
              <a:rPr lang="en-US" sz="950" b="1" dirty="0">
                <a:solidFill>
                  <a:srgbClr val="F97316"/>
                </a:solidFill>
                <a:latin typeface="Segoe UI" pitchFamily="34" charset="0"/>
                <a:ea typeface="Segoe UI" pitchFamily="34" charset="-122"/>
                <a:cs typeface="Segoe UI" pitchFamily="34" charset="-120"/>
              </a:rPr>
              <a:t>SISTEM ARSITEKTUR &amp; OPERASIONAL</a:t>
            </a:r>
            <a:endParaRPr lang="en-US" sz="950" dirty="0"/>
          </a:p>
        </p:txBody>
      </p:sp>
      <p:sp>
        <p:nvSpPr>
          <p:cNvPr id="5" name="Text 3"/>
          <p:cNvSpPr/>
          <p:nvPr/>
        </p:nvSpPr>
        <p:spPr>
          <a:xfrm>
            <a:off x="1097280" y="1508760"/>
            <a:ext cx="9601200" cy="1280160"/>
          </a:xfrm>
          <a:prstGeom prst="rect">
            <a:avLst/>
          </a:prstGeom>
          <a:noFill/>
          <a:ln/>
        </p:spPr>
        <p:txBody>
          <a:bodyPr wrap="square" lIns="0" tIns="0" rIns="0" bIns="0"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BEST COMPUTEL</a:t>
            </a:r>
            <a:endParaRPr lang="en-US" sz="4000" dirty="0"/>
          </a:p>
          <a:p>
            <a:pPr indent="0" marL="0">
              <a:buNone/>
            </a:pPr>
            <a:r>
              <a:rPr lang="en-US" sz="4000" b="1" dirty="0">
                <a:solidFill>
                  <a:srgbClr val="FFFFFF"/>
                </a:solidFill>
                <a:latin typeface="Segoe UI" pitchFamily="34" charset="0"/>
                <a:ea typeface="Segoe UI" pitchFamily="34" charset="-122"/>
                <a:cs typeface="Segoe UI" pitchFamily="34" charset="-120"/>
              </a:rPr>
              <a:t>SERVICE &amp; RMA</a:t>
            </a:r>
            <a:endParaRPr lang="en-US" sz="4000" dirty="0"/>
          </a:p>
        </p:txBody>
      </p:sp>
      <p:sp>
        <p:nvSpPr>
          <p:cNvPr id="6" name="Text 4"/>
          <p:cNvSpPr/>
          <p:nvPr/>
        </p:nvSpPr>
        <p:spPr>
          <a:xfrm>
            <a:off x="1097280" y="2880360"/>
            <a:ext cx="9601200" cy="411480"/>
          </a:xfrm>
          <a:prstGeom prst="rect">
            <a:avLst/>
          </a:prstGeom>
          <a:noFill/>
          <a:ln/>
        </p:spPr>
        <p:txBody>
          <a:bodyPr wrap="square" lIns="0" tIns="0" rIns="0" bIns="0" rtlCol="0" anchor="ctr"/>
          <a:lstStyle/>
          <a:p>
            <a:pPr indent="0" marL="0">
              <a:buNone/>
            </a:pPr>
            <a:r>
              <a:rPr lang="en-US" sz="1500" b="1" dirty="0">
                <a:solidFill>
                  <a:srgbClr val="FB923C"/>
                </a:solidFill>
                <a:latin typeface="Segoe UI" pitchFamily="34" charset="0"/>
                <a:ea typeface="Segoe UI" pitchFamily="34" charset="-122"/>
                <a:cs typeface="Segoe UI" pitchFamily="34" charset="-120"/>
              </a:rPr>
              <a:t>Aplikasi Web Manajemen Servis Terpadu, Distribusi Garansi Vendor, dan Otomasi Logistik (mybctapps)</a:t>
            </a:r>
            <a:endParaRPr lang="en-US" sz="1500" dirty="0"/>
          </a:p>
        </p:txBody>
      </p:sp>
      <p:sp>
        <p:nvSpPr>
          <p:cNvPr id="7" name="Text 5"/>
          <p:cNvSpPr/>
          <p:nvPr/>
        </p:nvSpPr>
        <p:spPr>
          <a:xfrm>
            <a:off x="1097280" y="3383280"/>
            <a:ext cx="8961120" cy="731520"/>
          </a:xfrm>
          <a:prstGeom prst="rect">
            <a:avLst/>
          </a:prstGeom>
          <a:noFill/>
          <a:ln/>
        </p:spPr>
        <p:txBody>
          <a:bodyPr wrap="square" lIns="0" tIns="0" rIns="0" bIns="0" rtlCol="0" anchor="ctr"/>
          <a:lstStyle/>
          <a:p>
            <a:pPr indent="0" marL="0">
              <a:buNone/>
            </a:pPr>
            <a:r>
              <a:rPr lang="en-US" sz="1250" dirty="0">
                <a:solidFill>
                  <a:srgbClr val="94A3B8"/>
                </a:solidFill>
                <a:latin typeface="Segoe UI" pitchFamily="34" charset="0"/>
                <a:ea typeface="Segoe UI" pitchFamily="34" charset="-122"/>
                <a:cs typeface="Segoe UI" pitchFamily="34" charset="-120"/>
              </a:rPr>
              <a:t>Migrasi menyeluruh dari operasional manual berbasis Google AppSheet &amp; Google Sheets menuju platform web terpusat yang cepat, presisi di meja teknisi, serta akuntabel secara keuangan dan logistik pengiriman.</a:t>
            </a:r>
            <a:endParaRPr lang="en-US" sz="1250" dirty="0"/>
          </a:p>
        </p:txBody>
      </p:sp>
      <p:sp>
        <p:nvSpPr>
          <p:cNvPr id="8" name="Shape 6"/>
          <p:cNvSpPr/>
          <p:nvPr/>
        </p:nvSpPr>
        <p:spPr>
          <a:xfrm>
            <a:off x="1097280" y="4663440"/>
            <a:ext cx="2331720" cy="1371600"/>
          </a:xfrm>
          <a:prstGeom prst="rect">
            <a:avLst>
              <a:gd name="adj" fmla="val 4000"/>
            </a:avLst>
          </a:prstGeom>
          <a:solidFill>
            <a:srgbClr val="1E293B"/>
          </a:solidFill>
          <a:ln w="12700">
            <a:solidFill>
              <a:srgbClr val="334155"/>
            </a:solidFill>
            <a:prstDash val="solid"/>
          </a:ln>
        </p:spPr>
      </p:sp>
      <p:sp>
        <p:nvSpPr>
          <p:cNvPr id="9" name="Text 7"/>
          <p:cNvSpPr/>
          <p:nvPr/>
        </p:nvSpPr>
        <p:spPr>
          <a:xfrm>
            <a:off x="1280160" y="4828032"/>
            <a:ext cx="1965960" cy="201168"/>
          </a:xfrm>
          <a:prstGeom prst="rect">
            <a:avLst/>
          </a:prstGeom>
          <a:noFill/>
          <a:ln/>
        </p:spPr>
        <p:txBody>
          <a:bodyPr wrap="square" lIns="0" tIns="0" rIns="0" bIns="0" rtlCol="0" anchor="ctr"/>
          <a:lstStyle/>
          <a:p>
            <a:pPr indent="0" marL="0">
              <a:buNone/>
            </a:pPr>
            <a:r>
              <a:rPr lang="en-US" sz="850" b="1" dirty="0">
                <a:solidFill>
                  <a:srgbClr val="F97316"/>
                </a:solidFill>
                <a:latin typeface="Segoe UI" pitchFamily="34" charset="0"/>
                <a:ea typeface="Segoe UI" pitchFamily="34" charset="-122"/>
                <a:cs typeface="Segoe UI" pitchFamily="34" charset="-120"/>
              </a:rPr>
              <a:t>KODE REPOSITORI</a:t>
            </a:r>
            <a:endParaRPr lang="en-US" sz="850" dirty="0"/>
          </a:p>
        </p:txBody>
      </p:sp>
      <p:sp>
        <p:nvSpPr>
          <p:cNvPr id="10" name="Text 8"/>
          <p:cNvSpPr/>
          <p:nvPr/>
        </p:nvSpPr>
        <p:spPr>
          <a:xfrm>
            <a:off x="1280160" y="5074920"/>
            <a:ext cx="1965960" cy="320040"/>
          </a:xfrm>
          <a:prstGeom prst="rect">
            <a:avLst/>
          </a:prstGeom>
          <a:noFill/>
          <a:ln/>
        </p:spPr>
        <p:txBody>
          <a:bodyPr wrap="square" lIns="0" tIns="0" rIns="0" bIns="0" rtlCol="0" anchor="ctr"/>
          <a:lstStyle/>
          <a:p>
            <a:pPr indent="0" marL="0">
              <a:buNone/>
            </a:pPr>
            <a:r>
              <a:rPr lang="en-US" sz="1350" b="1" dirty="0">
                <a:solidFill>
                  <a:srgbClr val="FFFFFF"/>
                </a:solidFill>
                <a:latin typeface="Segoe UI" pitchFamily="34" charset="0"/>
                <a:ea typeface="Segoe UI" pitchFamily="34" charset="-122"/>
                <a:cs typeface="Segoe UI" pitchFamily="34" charset="-120"/>
              </a:rPr>
              <a:t>mybctapps v1.0</a:t>
            </a:r>
            <a:endParaRPr lang="en-US" sz="1350" dirty="0"/>
          </a:p>
        </p:txBody>
      </p:sp>
      <p:sp>
        <p:nvSpPr>
          <p:cNvPr id="11" name="Text 9"/>
          <p:cNvSpPr/>
          <p:nvPr/>
        </p:nvSpPr>
        <p:spPr>
          <a:xfrm>
            <a:off x="1280160" y="5486400"/>
            <a:ext cx="1965960" cy="36576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Next.js 16 • React 19 • Tailwind v4</a:t>
            </a:r>
            <a:endParaRPr lang="en-US" sz="950" dirty="0"/>
          </a:p>
        </p:txBody>
      </p:sp>
      <p:sp>
        <p:nvSpPr>
          <p:cNvPr id="12" name="Shape 10"/>
          <p:cNvSpPr/>
          <p:nvPr/>
        </p:nvSpPr>
        <p:spPr>
          <a:xfrm>
            <a:off x="3657600" y="4663440"/>
            <a:ext cx="2331720" cy="1371600"/>
          </a:xfrm>
          <a:prstGeom prst="rect">
            <a:avLst>
              <a:gd name="adj" fmla="val 4000"/>
            </a:avLst>
          </a:prstGeom>
          <a:solidFill>
            <a:srgbClr val="1E293B"/>
          </a:solidFill>
          <a:ln w="12700">
            <a:solidFill>
              <a:srgbClr val="334155"/>
            </a:solidFill>
            <a:prstDash val="solid"/>
          </a:ln>
        </p:spPr>
      </p:sp>
      <p:sp>
        <p:nvSpPr>
          <p:cNvPr id="13" name="Text 11"/>
          <p:cNvSpPr/>
          <p:nvPr/>
        </p:nvSpPr>
        <p:spPr>
          <a:xfrm>
            <a:off x="3840480" y="4828032"/>
            <a:ext cx="1965960" cy="201168"/>
          </a:xfrm>
          <a:prstGeom prst="rect">
            <a:avLst/>
          </a:prstGeom>
          <a:noFill/>
          <a:ln/>
        </p:spPr>
        <p:txBody>
          <a:bodyPr wrap="square" lIns="0" tIns="0" rIns="0" bIns="0" rtlCol="0" anchor="ctr"/>
          <a:lstStyle/>
          <a:p>
            <a:pPr indent="0" marL="0">
              <a:buNone/>
            </a:pPr>
            <a:r>
              <a:rPr lang="en-US" sz="850" b="1" dirty="0">
                <a:solidFill>
                  <a:srgbClr val="F97316"/>
                </a:solidFill>
                <a:latin typeface="Segoe UI" pitchFamily="34" charset="0"/>
                <a:ea typeface="Segoe UI" pitchFamily="34" charset="-122"/>
                <a:cs typeface="Segoe UI" pitchFamily="34" charset="-120"/>
              </a:rPr>
              <a:t>CAKUPAN OPERASI</a:t>
            </a:r>
            <a:endParaRPr lang="en-US" sz="850" dirty="0"/>
          </a:p>
        </p:txBody>
      </p:sp>
      <p:sp>
        <p:nvSpPr>
          <p:cNvPr id="14" name="Text 12"/>
          <p:cNvSpPr/>
          <p:nvPr/>
        </p:nvSpPr>
        <p:spPr>
          <a:xfrm>
            <a:off x="3840480" y="5074920"/>
            <a:ext cx="1965960" cy="320040"/>
          </a:xfrm>
          <a:prstGeom prst="rect">
            <a:avLst/>
          </a:prstGeom>
          <a:noFill/>
          <a:ln/>
        </p:spPr>
        <p:txBody>
          <a:bodyPr wrap="square" lIns="0" tIns="0" rIns="0" bIns="0" rtlCol="0" anchor="ctr"/>
          <a:lstStyle/>
          <a:p>
            <a:pPr indent="0" marL="0">
              <a:buNone/>
            </a:pPr>
            <a:r>
              <a:rPr lang="en-US" sz="1350" b="1" dirty="0">
                <a:solidFill>
                  <a:srgbClr val="FFFFFF"/>
                </a:solidFill>
                <a:latin typeface="Segoe UI" pitchFamily="34" charset="0"/>
                <a:ea typeface="Segoe UI" pitchFamily="34" charset="-122"/>
                <a:cs typeface="Segoe UI" pitchFamily="34" charset="-120"/>
              </a:rPr>
              <a:t>Servis &amp; Garansi</a:t>
            </a:r>
            <a:endParaRPr lang="en-US" sz="1350" dirty="0"/>
          </a:p>
        </p:txBody>
      </p:sp>
      <p:sp>
        <p:nvSpPr>
          <p:cNvPr id="15" name="Text 13"/>
          <p:cNvSpPr/>
          <p:nvPr/>
        </p:nvSpPr>
        <p:spPr>
          <a:xfrm>
            <a:off x="3840480" y="5486400"/>
            <a:ext cx="1965960" cy="36576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Intake, Kasir, Vendor RMA, Sales</a:t>
            </a:r>
            <a:endParaRPr lang="en-US" sz="950" dirty="0"/>
          </a:p>
        </p:txBody>
      </p:sp>
      <p:sp>
        <p:nvSpPr>
          <p:cNvPr id="16" name="Shape 14"/>
          <p:cNvSpPr/>
          <p:nvPr/>
        </p:nvSpPr>
        <p:spPr>
          <a:xfrm>
            <a:off x="6217920" y="4663440"/>
            <a:ext cx="2331720" cy="1371600"/>
          </a:xfrm>
          <a:prstGeom prst="rect">
            <a:avLst>
              <a:gd name="adj" fmla="val 4000"/>
            </a:avLst>
          </a:prstGeom>
          <a:solidFill>
            <a:srgbClr val="1E293B"/>
          </a:solidFill>
          <a:ln w="12700">
            <a:solidFill>
              <a:srgbClr val="334155"/>
            </a:solidFill>
            <a:prstDash val="solid"/>
          </a:ln>
        </p:spPr>
      </p:sp>
      <p:sp>
        <p:nvSpPr>
          <p:cNvPr id="17" name="Text 15"/>
          <p:cNvSpPr/>
          <p:nvPr/>
        </p:nvSpPr>
        <p:spPr>
          <a:xfrm>
            <a:off x="6400800" y="4828032"/>
            <a:ext cx="1965960" cy="201168"/>
          </a:xfrm>
          <a:prstGeom prst="rect">
            <a:avLst/>
          </a:prstGeom>
          <a:noFill/>
          <a:ln/>
        </p:spPr>
        <p:txBody>
          <a:bodyPr wrap="square" lIns="0" tIns="0" rIns="0" bIns="0" rtlCol="0" anchor="ctr"/>
          <a:lstStyle/>
          <a:p>
            <a:pPr indent="0" marL="0">
              <a:buNone/>
            </a:pPr>
            <a:r>
              <a:rPr lang="en-US" sz="850" b="1" dirty="0">
                <a:solidFill>
                  <a:srgbClr val="F97316"/>
                </a:solidFill>
                <a:latin typeface="Segoe UI" pitchFamily="34" charset="0"/>
                <a:ea typeface="Segoe UI" pitchFamily="34" charset="-122"/>
                <a:cs typeface="Segoe UI" pitchFamily="34" charset="-120"/>
              </a:rPr>
              <a:t>OTOMASI UTAMA</a:t>
            </a:r>
            <a:endParaRPr lang="en-US" sz="850" dirty="0"/>
          </a:p>
        </p:txBody>
      </p:sp>
      <p:sp>
        <p:nvSpPr>
          <p:cNvPr id="18" name="Text 16"/>
          <p:cNvSpPr/>
          <p:nvPr/>
        </p:nvSpPr>
        <p:spPr>
          <a:xfrm>
            <a:off x="6400800" y="5074920"/>
            <a:ext cx="1965960" cy="320040"/>
          </a:xfrm>
          <a:prstGeom prst="rect">
            <a:avLst/>
          </a:prstGeom>
          <a:noFill/>
          <a:ln/>
        </p:spPr>
        <p:txBody>
          <a:bodyPr wrap="square" lIns="0" tIns="0" rIns="0" bIns="0" rtlCol="0" anchor="ctr"/>
          <a:lstStyle/>
          <a:p>
            <a:pPr indent="0" marL="0">
              <a:buNone/>
            </a:pPr>
            <a:r>
              <a:rPr lang="en-US" sz="1350" b="1" dirty="0">
                <a:solidFill>
                  <a:srgbClr val="FFFFFF"/>
                </a:solidFill>
                <a:latin typeface="Segoe UI" pitchFamily="34" charset="0"/>
                <a:ea typeface="Segoe UI" pitchFamily="34" charset="-122"/>
                <a:cs typeface="Segoe UI" pitchFamily="34" charset="-120"/>
              </a:rPr>
              <a:t>Dual WA &amp; Surat Jalan</a:t>
            </a:r>
            <a:endParaRPr lang="en-US" sz="1350" dirty="0"/>
          </a:p>
        </p:txBody>
      </p:sp>
      <p:sp>
        <p:nvSpPr>
          <p:cNvPr id="19" name="Text 17"/>
          <p:cNvSpPr/>
          <p:nvPr/>
        </p:nvSpPr>
        <p:spPr>
          <a:xfrm>
            <a:off x="6400800" y="5486400"/>
            <a:ext cx="1965960" cy="36576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Notifikasi Pelanggan &amp; Laporan Kamis</a:t>
            </a:r>
            <a:endParaRPr lang="en-US" sz="950" dirty="0"/>
          </a:p>
        </p:txBody>
      </p:sp>
      <p:sp>
        <p:nvSpPr>
          <p:cNvPr id="20" name="Shape 18"/>
          <p:cNvSpPr/>
          <p:nvPr/>
        </p:nvSpPr>
        <p:spPr>
          <a:xfrm>
            <a:off x="8778240" y="4663440"/>
            <a:ext cx="2331720" cy="1371600"/>
          </a:xfrm>
          <a:prstGeom prst="rect">
            <a:avLst>
              <a:gd name="adj" fmla="val 4000"/>
            </a:avLst>
          </a:prstGeom>
          <a:solidFill>
            <a:srgbClr val="1E293B"/>
          </a:solidFill>
          <a:ln w="12700">
            <a:solidFill>
              <a:srgbClr val="334155"/>
            </a:solidFill>
            <a:prstDash val="solid"/>
          </a:ln>
        </p:spPr>
      </p:sp>
      <p:sp>
        <p:nvSpPr>
          <p:cNvPr id="21" name="Text 19"/>
          <p:cNvSpPr/>
          <p:nvPr/>
        </p:nvSpPr>
        <p:spPr>
          <a:xfrm>
            <a:off x="8961120" y="4828032"/>
            <a:ext cx="1965960" cy="201168"/>
          </a:xfrm>
          <a:prstGeom prst="rect">
            <a:avLst/>
          </a:prstGeom>
          <a:noFill/>
          <a:ln/>
        </p:spPr>
        <p:txBody>
          <a:bodyPr wrap="square" lIns="0" tIns="0" rIns="0" bIns="0" rtlCol="0" anchor="ctr"/>
          <a:lstStyle/>
          <a:p>
            <a:pPr indent="0" marL="0">
              <a:buNone/>
            </a:pPr>
            <a:r>
              <a:rPr lang="en-US" sz="850" b="1" dirty="0">
                <a:solidFill>
                  <a:srgbClr val="F97316"/>
                </a:solidFill>
                <a:latin typeface="Segoe UI" pitchFamily="34" charset="0"/>
                <a:ea typeface="Segoe UI" pitchFamily="34" charset="-122"/>
                <a:cs typeface="Segoe UI" pitchFamily="34" charset="-120"/>
              </a:rPr>
              <a:t>PROTEKSI SISTEM</a:t>
            </a:r>
            <a:endParaRPr lang="en-US" sz="850" dirty="0"/>
          </a:p>
        </p:txBody>
      </p:sp>
      <p:sp>
        <p:nvSpPr>
          <p:cNvPr id="22" name="Text 20"/>
          <p:cNvSpPr/>
          <p:nvPr/>
        </p:nvSpPr>
        <p:spPr>
          <a:xfrm>
            <a:off x="8961120" y="5074920"/>
            <a:ext cx="1965960" cy="320040"/>
          </a:xfrm>
          <a:prstGeom prst="rect">
            <a:avLst/>
          </a:prstGeom>
          <a:noFill/>
          <a:ln/>
        </p:spPr>
        <p:txBody>
          <a:bodyPr wrap="square" lIns="0" tIns="0" rIns="0" bIns="0" rtlCol="0" anchor="ctr"/>
          <a:lstStyle/>
          <a:p>
            <a:pPr indent="0" marL="0">
              <a:buNone/>
            </a:pPr>
            <a:r>
              <a:rPr lang="en-US" sz="1350" b="1" dirty="0">
                <a:solidFill>
                  <a:srgbClr val="FFFFFF"/>
                </a:solidFill>
                <a:latin typeface="Segoe UI" pitchFamily="34" charset="0"/>
                <a:ea typeface="Segoe UI" pitchFamily="34" charset="-122"/>
                <a:cs typeface="Segoe UI" pitchFamily="34" charset="-120"/>
              </a:rPr>
              <a:t>5-Device Node-Lock</a:t>
            </a:r>
            <a:endParaRPr lang="en-US" sz="1350" dirty="0"/>
          </a:p>
        </p:txBody>
      </p:sp>
      <p:sp>
        <p:nvSpPr>
          <p:cNvPr id="23" name="Text 21"/>
          <p:cNvSpPr/>
          <p:nvPr/>
        </p:nvSpPr>
        <p:spPr>
          <a:xfrm>
            <a:off x="8961120" y="5486400"/>
            <a:ext cx="1965960" cy="36576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Audit Trail &amp; Akses Khusus Bengkel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01 / LATAR BELAKANG &amp; MASALAH</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Tantangan Operasional di Sistem Lama (AppSheet &amp; Sheets)</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Kendala nyata di lapangan yang menghambat akuntabilitas dan kecepatan pelayanan servis harian</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 / 10</a:t>
            </a:r>
            <a:endParaRPr lang="en-US" sz="900" dirty="0"/>
          </a:p>
        </p:txBody>
      </p:sp>
      <p:sp>
        <p:nvSpPr>
          <p:cNvPr id="9" name="Shape 7"/>
          <p:cNvSpPr/>
          <p:nvPr/>
        </p:nvSpPr>
        <p:spPr>
          <a:xfrm>
            <a:off x="731520" y="1920240"/>
            <a:ext cx="5242255" cy="1920240"/>
          </a:xfrm>
          <a:prstGeom prst="rect">
            <a:avLst>
              <a:gd name="adj" fmla="val 3810"/>
            </a:avLst>
          </a:prstGeom>
          <a:solidFill>
            <a:srgbClr val="1E293B"/>
          </a:solidFill>
          <a:ln w="12700">
            <a:solidFill>
              <a:srgbClr val="334155"/>
            </a:solidFill>
            <a:prstDash val="solid"/>
          </a:ln>
        </p:spPr>
      </p:sp>
      <p:sp>
        <p:nvSpPr>
          <p:cNvPr id="10" name="Shape 8"/>
          <p:cNvSpPr/>
          <p:nvPr/>
        </p:nvSpPr>
        <p:spPr>
          <a:xfrm>
            <a:off x="731520" y="1920240"/>
            <a:ext cx="73152" cy="1920240"/>
          </a:xfrm>
          <a:prstGeom prst="rect">
            <a:avLst/>
          </a:prstGeom>
          <a:solidFill>
            <a:srgbClr val="F59E0B"/>
          </a:solidFill>
          <a:ln/>
        </p:spPr>
      </p:sp>
      <p:sp>
        <p:nvSpPr>
          <p:cNvPr id="11" name="Text 9"/>
          <p:cNvSpPr/>
          <p:nvPr/>
        </p:nvSpPr>
        <p:spPr>
          <a:xfrm>
            <a:off x="9601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Desinkronisasi &amp; Batasan Spreadsheet</a:t>
            </a:r>
            <a:endParaRPr lang="en-US" sz="1400" dirty="0"/>
          </a:p>
        </p:txBody>
      </p:sp>
      <p:sp>
        <p:nvSpPr>
          <p:cNvPr id="12" name="Text 10"/>
          <p:cNvSpPr/>
          <p:nvPr/>
        </p:nvSpPr>
        <p:spPr>
          <a:xfrm>
            <a:off x="960120" y="2450592"/>
            <a:ext cx="4754880" cy="228600"/>
          </a:xfrm>
          <a:prstGeom prst="rect">
            <a:avLst/>
          </a:prstGeom>
          <a:noFill/>
          <a:ln/>
        </p:spPr>
        <p:txBody>
          <a:bodyPr wrap="square" lIns="0" tIns="0" rIns="0" bIns="0"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Integritas Data Sering Terganggu</a:t>
            </a:r>
            <a:endParaRPr lang="en-US" sz="1000" dirty="0"/>
          </a:p>
        </p:txBody>
      </p:sp>
      <p:sp>
        <p:nvSpPr>
          <p:cNvPr id="13" name="Text 11"/>
          <p:cNvSpPr/>
          <p:nvPr/>
        </p:nvSpPr>
        <p:spPr>
          <a:xfrm>
            <a:off x="960120" y="274320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Penggunaan Google Sheets multi-user sering memicu tabrakan input data, formula kalkulasi biaya tidak sengaja terhapus, dan loading sistem melambat secara signifikan saat data servis mencapai ribuan baris.</a:t>
            </a:r>
            <a:endParaRPr lang="en-US" sz="1100" dirty="0"/>
          </a:p>
        </p:txBody>
      </p:sp>
      <p:sp>
        <p:nvSpPr>
          <p:cNvPr id="14" name="Shape 12"/>
          <p:cNvSpPr/>
          <p:nvPr/>
        </p:nvSpPr>
        <p:spPr>
          <a:xfrm>
            <a:off x="6217920" y="1920240"/>
            <a:ext cx="5242255" cy="1920240"/>
          </a:xfrm>
          <a:prstGeom prst="rect">
            <a:avLst>
              <a:gd name="adj" fmla="val 3810"/>
            </a:avLst>
          </a:prstGeom>
          <a:solidFill>
            <a:srgbClr val="1E293B"/>
          </a:solidFill>
          <a:ln w="12700">
            <a:solidFill>
              <a:srgbClr val="334155"/>
            </a:solidFill>
            <a:prstDash val="solid"/>
          </a:ln>
        </p:spPr>
      </p:sp>
      <p:sp>
        <p:nvSpPr>
          <p:cNvPr id="15" name="Shape 13"/>
          <p:cNvSpPr/>
          <p:nvPr/>
        </p:nvSpPr>
        <p:spPr>
          <a:xfrm>
            <a:off x="6217920" y="1920240"/>
            <a:ext cx="73152" cy="1920240"/>
          </a:xfrm>
          <a:prstGeom prst="rect">
            <a:avLst/>
          </a:prstGeom>
          <a:solidFill>
            <a:srgbClr val="F43F5E"/>
          </a:solidFill>
          <a:ln/>
        </p:spPr>
      </p:sp>
      <p:sp>
        <p:nvSpPr>
          <p:cNvPr id="16" name="Text 14"/>
          <p:cNvSpPr/>
          <p:nvPr/>
        </p:nvSpPr>
        <p:spPr>
          <a:xfrm>
            <a:off x="64465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Titik Buta Pelacakan Garansi Vendor</a:t>
            </a:r>
            <a:endParaRPr lang="en-US" sz="1400" dirty="0"/>
          </a:p>
        </p:txBody>
      </p:sp>
      <p:sp>
        <p:nvSpPr>
          <p:cNvPr id="17" name="Text 15"/>
          <p:cNvSpPr/>
          <p:nvPr/>
        </p:nvSpPr>
        <p:spPr>
          <a:xfrm>
            <a:off x="6446520" y="2450592"/>
            <a:ext cx="4754880" cy="228600"/>
          </a:xfrm>
          <a:prstGeom prst="rect">
            <a:avLst/>
          </a:prstGeom>
          <a:noFill/>
          <a:ln/>
        </p:spPr>
        <p:txBody>
          <a:bodyPr wrap="square" lIns="0" tIns="0" rIns="0" bIns="0" rtlCol="0" anchor="ctr"/>
          <a:lstStyle/>
          <a:p>
            <a:pPr indent="0" marL="0">
              <a:buNone/>
            </a:pPr>
            <a:r>
              <a:rPr lang="en-US" sz="1000" b="1" dirty="0">
                <a:solidFill>
                  <a:srgbClr val="F43F5E"/>
                </a:solidFill>
                <a:latin typeface="Segoe UI" pitchFamily="34" charset="0"/>
                <a:ea typeface="Segoe UI" pitchFamily="34" charset="-122"/>
                <a:cs typeface="Segoe UI" pitchFamily="34" charset="-120"/>
              </a:rPr>
              <a:t>Distribusi Bandung &amp; Jakarta Tidak Terdata</a:t>
            </a:r>
            <a:endParaRPr lang="en-US" sz="1000" dirty="0"/>
          </a:p>
        </p:txBody>
      </p:sp>
      <p:sp>
        <p:nvSpPr>
          <p:cNvPr id="18" name="Text 16"/>
          <p:cNvSpPr/>
          <p:nvPr/>
        </p:nvSpPr>
        <p:spPr>
          <a:xfrm>
            <a:off x="6446520" y="274320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Unit yang dikirim ke distributor pihak ketiga (PT. Asia Raya Com BDG, Agres ID JKT, dll) tidak memiliki nomor Surat Jalan terstandar. Ketika pelanggan menanyakan status barang, teknisi kesulitan melacak riwayat pengiriman.</a:t>
            </a:r>
            <a:endParaRPr lang="en-US" sz="1100" dirty="0"/>
          </a:p>
        </p:txBody>
      </p:sp>
      <p:sp>
        <p:nvSpPr>
          <p:cNvPr id="19" name="Shape 17"/>
          <p:cNvSpPr/>
          <p:nvPr/>
        </p:nvSpPr>
        <p:spPr>
          <a:xfrm>
            <a:off x="731520" y="4023360"/>
            <a:ext cx="5242255" cy="1920240"/>
          </a:xfrm>
          <a:prstGeom prst="rect">
            <a:avLst>
              <a:gd name="adj" fmla="val 3810"/>
            </a:avLst>
          </a:prstGeom>
          <a:solidFill>
            <a:srgbClr val="1E293B"/>
          </a:solidFill>
          <a:ln w="12700">
            <a:solidFill>
              <a:srgbClr val="334155"/>
            </a:solidFill>
            <a:prstDash val="solid"/>
          </a:ln>
        </p:spPr>
      </p:sp>
      <p:sp>
        <p:nvSpPr>
          <p:cNvPr id="20" name="Shape 18"/>
          <p:cNvSpPr/>
          <p:nvPr/>
        </p:nvSpPr>
        <p:spPr>
          <a:xfrm>
            <a:off x="731520" y="4023360"/>
            <a:ext cx="73152" cy="1920240"/>
          </a:xfrm>
          <a:prstGeom prst="rect">
            <a:avLst/>
          </a:prstGeom>
          <a:solidFill>
            <a:srgbClr val="3B82F6"/>
          </a:solidFill>
          <a:ln/>
        </p:spPr>
      </p:sp>
      <p:sp>
        <p:nvSpPr>
          <p:cNvPr id="21" name="Text 19"/>
          <p:cNvSpPr/>
          <p:nvPr/>
        </p:nvSpPr>
        <p:spPr>
          <a:xfrm>
            <a:off x="960120" y="420624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Beban Komunikasi WhatsApp Manual</a:t>
            </a:r>
            <a:endParaRPr lang="en-US" sz="1400" dirty="0"/>
          </a:p>
        </p:txBody>
      </p:sp>
      <p:sp>
        <p:nvSpPr>
          <p:cNvPr id="22" name="Text 20"/>
          <p:cNvSpPr/>
          <p:nvPr/>
        </p:nvSpPr>
        <p:spPr>
          <a:xfrm>
            <a:off x="960120" y="4553712"/>
            <a:ext cx="4754880" cy="228600"/>
          </a:xfrm>
          <a:prstGeom prst="rect">
            <a:avLst/>
          </a:prstGeom>
          <a:noFill/>
          <a:ln/>
        </p:spPr>
        <p:txBody>
          <a:bodyPr wrap="square" lIns="0" tIns="0" rIns="0" bIns="0"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5-10 Menit Terbuang per Perangkat</a:t>
            </a:r>
            <a:endParaRPr lang="en-US" sz="1000" dirty="0"/>
          </a:p>
        </p:txBody>
      </p:sp>
      <p:sp>
        <p:nvSpPr>
          <p:cNvPr id="23" name="Text 21"/>
          <p:cNvSpPr/>
          <p:nvPr/>
        </p:nvSpPr>
        <p:spPr>
          <a:xfrm>
            <a:off x="960120" y="484632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Teknisi harus menyalin-tempel teks tanda terima, nomor nota, keluhan, dan kelengkapan secara manual ke chat pelanggan. Rawan salah ketik rincian perangkat serta tidak ada format pesan yang seragam.</a:t>
            </a:r>
            <a:endParaRPr lang="en-US" sz="1100" dirty="0"/>
          </a:p>
        </p:txBody>
      </p:sp>
      <p:sp>
        <p:nvSpPr>
          <p:cNvPr id="24" name="Shape 22"/>
          <p:cNvSpPr/>
          <p:nvPr/>
        </p:nvSpPr>
        <p:spPr>
          <a:xfrm>
            <a:off x="6217920" y="4023360"/>
            <a:ext cx="5242255" cy="1920240"/>
          </a:xfrm>
          <a:prstGeom prst="rect">
            <a:avLst>
              <a:gd name="adj" fmla="val 3810"/>
            </a:avLst>
          </a:prstGeom>
          <a:solidFill>
            <a:srgbClr val="1E293B"/>
          </a:solidFill>
          <a:ln w="12700">
            <a:solidFill>
              <a:srgbClr val="334155"/>
            </a:solidFill>
            <a:prstDash val="solid"/>
          </a:ln>
        </p:spPr>
      </p:sp>
      <p:sp>
        <p:nvSpPr>
          <p:cNvPr id="25" name="Shape 23"/>
          <p:cNvSpPr/>
          <p:nvPr/>
        </p:nvSpPr>
        <p:spPr>
          <a:xfrm>
            <a:off x="6217920" y="4023360"/>
            <a:ext cx="73152" cy="1920240"/>
          </a:xfrm>
          <a:prstGeom prst="rect">
            <a:avLst/>
          </a:prstGeom>
          <a:solidFill>
            <a:srgbClr val="F97316"/>
          </a:solidFill>
          <a:ln/>
        </p:spPr>
      </p:sp>
      <p:sp>
        <p:nvSpPr>
          <p:cNvPr id="26" name="Text 24"/>
          <p:cNvSpPr/>
          <p:nvPr/>
        </p:nvSpPr>
        <p:spPr>
          <a:xfrm>
            <a:off x="6446520" y="420624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Kerancuan Barang Pelanggan vs Stok Toko</a:t>
            </a:r>
            <a:endParaRPr lang="en-US" sz="1400" dirty="0"/>
          </a:p>
        </p:txBody>
      </p:sp>
      <p:sp>
        <p:nvSpPr>
          <p:cNvPr id="27" name="Text 25"/>
          <p:cNvSpPr/>
          <p:nvPr/>
        </p:nvSpPr>
        <p:spPr>
          <a:xfrm>
            <a:off x="6446520" y="4553712"/>
            <a:ext cx="4754880" cy="228600"/>
          </a:xfrm>
          <a:prstGeom prst="rect">
            <a:avLst/>
          </a:prstGeom>
          <a:noFill/>
          <a:ln/>
        </p:spPr>
        <p:txBody>
          <a:bodyPr wrap="square" lIns="0" tIns="0" rIns="0" bIns="0" rtlCol="0" anchor="ctr"/>
          <a:lstStyle/>
          <a:p>
            <a:pPr indent="0" marL="0">
              <a:buNone/>
            </a:pPr>
            <a:r>
              <a:rPr lang="en-US" sz="1000" b="1" dirty="0">
                <a:solidFill>
                  <a:srgbClr val="F97316"/>
                </a:solidFill>
                <a:latin typeface="Segoe UI" pitchFamily="34" charset="0"/>
                <a:ea typeface="Segoe UI" pitchFamily="34" charset="-122"/>
                <a:cs typeface="Segoe UI" pitchFamily="34" charset="-120"/>
              </a:rPr>
              <a:t>Unit Inventaris Internal Sering Tertahan</a:t>
            </a:r>
            <a:endParaRPr lang="en-US" sz="1000" dirty="0"/>
          </a:p>
        </p:txBody>
      </p:sp>
      <p:sp>
        <p:nvSpPr>
          <p:cNvPr id="28" name="Text 26"/>
          <p:cNvSpPr/>
          <p:nvPr/>
        </p:nvSpPr>
        <p:spPr>
          <a:xfrm>
            <a:off x="6446520" y="484632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Unit milik toko (STOCK BCT dan GHITP) yang digaransikan bercampur dalam antrean servis umum. Tim sales terlambat mengetahui jika unit sudah selesai klaim ganti baru, sehingga barang siap jual tertahan lama di meja servis.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02 / SOLUSI TERPADU</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Pilar Solusi mybctapps: Satu Ekosistem Terpusat</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Menggabungkan dynamic intake, logistik vendor berresi, dan automasi laporan WhatsApp</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 / 10</a:t>
            </a:r>
            <a:endParaRPr lang="en-US" sz="900" dirty="0"/>
          </a:p>
        </p:txBody>
      </p:sp>
      <p:sp>
        <p:nvSpPr>
          <p:cNvPr id="9" name="Shape 7"/>
          <p:cNvSpPr/>
          <p:nvPr/>
        </p:nvSpPr>
        <p:spPr>
          <a:xfrm>
            <a:off x="731520" y="1920240"/>
            <a:ext cx="3413455" cy="4206240"/>
          </a:xfrm>
          <a:prstGeom prst="rect">
            <a:avLst>
              <a:gd name="adj" fmla="val 2143"/>
            </a:avLst>
          </a:prstGeom>
          <a:solidFill>
            <a:srgbClr val="1E293B"/>
          </a:solidFill>
          <a:ln w="12700">
            <a:solidFill>
              <a:srgbClr val="334155"/>
            </a:solidFill>
            <a:prstDash val="solid"/>
          </a:ln>
        </p:spPr>
      </p:sp>
      <p:sp>
        <p:nvSpPr>
          <p:cNvPr id="10" name="Shape 8"/>
          <p:cNvSpPr/>
          <p:nvPr/>
        </p:nvSpPr>
        <p:spPr>
          <a:xfrm>
            <a:off x="731520" y="1920240"/>
            <a:ext cx="73152" cy="4206240"/>
          </a:xfrm>
          <a:prstGeom prst="rect">
            <a:avLst/>
          </a:prstGeom>
          <a:solidFill>
            <a:srgbClr val="F97316"/>
          </a:solidFill>
          <a:ln/>
        </p:spPr>
      </p:sp>
      <p:sp>
        <p:nvSpPr>
          <p:cNvPr id="11" name="Text 9"/>
          <p:cNvSpPr/>
          <p:nvPr/>
        </p:nvSpPr>
        <p:spPr>
          <a:xfrm>
            <a:off x="9601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Dynamic Intake Engine</a:t>
            </a:r>
            <a:endParaRPr lang="en-US" sz="1400" dirty="0"/>
          </a:p>
        </p:txBody>
      </p:sp>
      <p:sp>
        <p:nvSpPr>
          <p:cNvPr id="12" name="Text 10"/>
          <p:cNvSpPr/>
          <p:nvPr/>
        </p:nvSpPr>
        <p:spPr>
          <a:xfrm>
            <a:off x="960120" y="2450592"/>
            <a:ext cx="3001975" cy="228600"/>
          </a:xfrm>
          <a:prstGeom prst="rect">
            <a:avLst/>
          </a:prstGeom>
          <a:noFill/>
          <a:ln/>
        </p:spPr>
        <p:txBody>
          <a:bodyPr wrap="square" lIns="0" tIns="0" rIns="0" bIns="0" rtlCol="0" anchor="ctr"/>
          <a:lstStyle/>
          <a:p>
            <a:pPr indent="0" marL="0">
              <a:buNone/>
            </a:pPr>
            <a:r>
              <a:rPr lang="en-US" sz="950" b="1" dirty="0">
                <a:solidFill>
                  <a:srgbClr val="F97316"/>
                </a:solidFill>
                <a:latin typeface="Segoe UI" pitchFamily="34" charset="0"/>
                <a:ea typeface="Segoe UI" pitchFamily="34" charset="-122"/>
                <a:cs typeface="Segoe UI" pitchFamily="34" charset="-120"/>
              </a:rPr>
              <a:t>PILAR 01 • Kecepatan &amp; Presisi Meja Servis</a:t>
            </a:r>
            <a:endParaRPr lang="en-US" sz="950" dirty="0"/>
          </a:p>
        </p:txBody>
      </p:sp>
      <p:sp>
        <p:nvSpPr>
          <p:cNvPr id="13" name="Shape 11"/>
          <p:cNvSpPr/>
          <p:nvPr/>
        </p:nvSpPr>
        <p:spPr>
          <a:xfrm>
            <a:off x="960120" y="2743200"/>
            <a:ext cx="2956255" cy="13716"/>
          </a:xfrm>
          <a:prstGeom prst="rect">
            <a:avLst/>
          </a:prstGeom>
          <a:solidFill>
            <a:srgbClr val="334155"/>
          </a:solidFill>
          <a:ln/>
        </p:spPr>
      </p:sp>
      <p:sp>
        <p:nvSpPr>
          <p:cNvPr id="14" name="Shape 12"/>
          <p:cNvSpPr/>
          <p:nvPr/>
        </p:nvSpPr>
        <p:spPr>
          <a:xfrm>
            <a:off x="960120" y="2926080"/>
            <a:ext cx="54864" cy="54864"/>
          </a:xfrm>
          <a:prstGeom prst="rect">
            <a:avLst/>
          </a:prstGeom>
          <a:solidFill>
            <a:srgbClr val="F97316"/>
          </a:solidFill>
          <a:ln/>
        </p:spPr>
      </p:sp>
      <p:sp>
        <p:nvSpPr>
          <p:cNvPr id="15" name="Text 13"/>
          <p:cNvSpPr/>
          <p:nvPr/>
        </p:nvSpPr>
        <p:spPr>
          <a:xfrm>
            <a:off x="1143000" y="288036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Penomoran otomatis standar BCTRS26-XXXX dengan kemampuan manual override fleksibel.</a:t>
            </a:r>
            <a:endParaRPr lang="en-US" sz="1050" dirty="0"/>
          </a:p>
        </p:txBody>
      </p:sp>
      <p:sp>
        <p:nvSpPr>
          <p:cNvPr id="16" name="Shape 14"/>
          <p:cNvSpPr/>
          <p:nvPr/>
        </p:nvSpPr>
        <p:spPr>
          <a:xfrm>
            <a:off x="960120" y="3703320"/>
            <a:ext cx="54864" cy="54864"/>
          </a:xfrm>
          <a:prstGeom prst="rect">
            <a:avLst/>
          </a:prstGeom>
          <a:solidFill>
            <a:srgbClr val="F97316"/>
          </a:solidFill>
          <a:ln/>
        </p:spPr>
      </p:sp>
      <p:sp>
        <p:nvSpPr>
          <p:cNvPr id="17" name="Text 15"/>
          <p:cNvSpPr/>
          <p:nvPr/>
        </p:nvSpPr>
        <p:spPr>
          <a:xfrm>
            <a:off x="1143000" y="365760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Standarisasi otomatis prefix nama pelanggan dengan format TN/NY.</a:t>
            </a:r>
            <a:endParaRPr lang="en-US" sz="1050" dirty="0"/>
          </a:p>
        </p:txBody>
      </p:sp>
      <p:sp>
        <p:nvSpPr>
          <p:cNvPr id="18" name="Shape 16"/>
          <p:cNvSpPr/>
          <p:nvPr/>
        </p:nvSpPr>
        <p:spPr>
          <a:xfrm>
            <a:off x="960120" y="4480560"/>
            <a:ext cx="54864" cy="54864"/>
          </a:xfrm>
          <a:prstGeom prst="rect">
            <a:avLst/>
          </a:prstGeom>
          <a:solidFill>
            <a:srgbClr val="F97316"/>
          </a:solidFill>
          <a:ln/>
        </p:spPr>
      </p:sp>
      <p:sp>
        <p:nvSpPr>
          <p:cNvPr id="19" name="Text 17"/>
          <p:cNvSpPr/>
          <p:nvPr/>
        </p:nvSpPr>
        <p:spPr>
          <a:xfrm>
            <a:off x="1143000" y="443484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Checklist kelengkapan adaptif: opsi berubah otomatis berdasarkan jenis barang (Laptop, PC, Printer).</a:t>
            </a:r>
            <a:endParaRPr lang="en-US" sz="1050" dirty="0"/>
          </a:p>
        </p:txBody>
      </p:sp>
      <p:sp>
        <p:nvSpPr>
          <p:cNvPr id="20" name="Shape 18"/>
          <p:cNvSpPr/>
          <p:nvPr/>
        </p:nvSpPr>
        <p:spPr>
          <a:xfrm>
            <a:off x="960120" y="5257800"/>
            <a:ext cx="54864" cy="54864"/>
          </a:xfrm>
          <a:prstGeom prst="rect">
            <a:avLst/>
          </a:prstGeom>
          <a:solidFill>
            <a:srgbClr val="F97316"/>
          </a:solidFill>
          <a:ln/>
        </p:spPr>
      </p:sp>
      <p:sp>
        <p:nvSpPr>
          <p:cNvPr id="21" name="Text 19"/>
          <p:cNvSpPr/>
          <p:nvPr/>
        </p:nvSpPr>
        <p:spPr>
          <a:xfrm>
            <a:off x="1143000" y="521208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Kalkulasi keuangan instan: Sisa Pembayaran terhitung otomatis dari Estimasi Biaya dikurangi DP.</a:t>
            </a:r>
            <a:endParaRPr lang="en-US" sz="1050" dirty="0"/>
          </a:p>
        </p:txBody>
      </p:sp>
      <p:sp>
        <p:nvSpPr>
          <p:cNvPr id="22" name="Shape 20"/>
          <p:cNvSpPr/>
          <p:nvPr/>
        </p:nvSpPr>
        <p:spPr>
          <a:xfrm>
            <a:off x="4389120" y="1920240"/>
            <a:ext cx="3413455" cy="4206240"/>
          </a:xfrm>
          <a:prstGeom prst="rect">
            <a:avLst>
              <a:gd name="adj" fmla="val 2143"/>
            </a:avLst>
          </a:prstGeom>
          <a:solidFill>
            <a:srgbClr val="1E293B"/>
          </a:solidFill>
          <a:ln w="12700">
            <a:solidFill>
              <a:srgbClr val="334155"/>
            </a:solidFill>
            <a:prstDash val="solid"/>
          </a:ln>
        </p:spPr>
      </p:sp>
      <p:sp>
        <p:nvSpPr>
          <p:cNvPr id="23" name="Shape 21"/>
          <p:cNvSpPr/>
          <p:nvPr/>
        </p:nvSpPr>
        <p:spPr>
          <a:xfrm>
            <a:off x="4389120" y="1920240"/>
            <a:ext cx="73152" cy="4206240"/>
          </a:xfrm>
          <a:prstGeom prst="rect">
            <a:avLst/>
          </a:prstGeom>
          <a:solidFill>
            <a:srgbClr val="3B82F6"/>
          </a:solidFill>
          <a:ln/>
        </p:spPr>
      </p:sp>
      <p:sp>
        <p:nvSpPr>
          <p:cNvPr id="24" name="Text 22"/>
          <p:cNvSpPr/>
          <p:nvPr/>
        </p:nvSpPr>
        <p:spPr>
          <a:xfrm>
            <a:off x="46177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Vendor Logistics &amp; RMA</a:t>
            </a:r>
            <a:endParaRPr lang="en-US" sz="1400" dirty="0"/>
          </a:p>
        </p:txBody>
      </p:sp>
      <p:sp>
        <p:nvSpPr>
          <p:cNvPr id="25" name="Text 23"/>
          <p:cNvSpPr/>
          <p:nvPr/>
        </p:nvSpPr>
        <p:spPr>
          <a:xfrm>
            <a:off x="4617720" y="2450592"/>
            <a:ext cx="3001975" cy="228600"/>
          </a:xfrm>
          <a:prstGeom prst="rect">
            <a:avLst/>
          </a:prstGeom>
          <a:noFill/>
          <a:ln/>
        </p:spPr>
        <p:txBody>
          <a:bodyPr wrap="square" lIns="0" tIns="0" rIns="0" bIns="0" rtlCol="0" anchor="ctr"/>
          <a:lstStyle/>
          <a:p>
            <a:pPr indent="0" marL="0">
              <a:buNone/>
            </a:pPr>
            <a:r>
              <a:rPr lang="en-US" sz="950" b="1" dirty="0">
                <a:solidFill>
                  <a:srgbClr val="3B82F6"/>
                </a:solidFill>
                <a:latin typeface="Segoe UI" pitchFamily="34" charset="0"/>
                <a:ea typeface="Segoe UI" pitchFamily="34" charset="-122"/>
                <a:cs typeface="Segoe UI" pitchFamily="34" charset="-120"/>
              </a:rPr>
              <a:t>PILAR 02 • Transparansi Distribusi Distributor</a:t>
            </a:r>
            <a:endParaRPr lang="en-US" sz="950" dirty="0"/>
          </a:p>
        </p:txBody>
      </p:sp>
      <p:sp>
        <p:nvSpPr>
          <p:cNvPr id="26" name="Shape 24"/>
          <p:cNvSpPr/>
          <p:nvPr/>
        </p:nvSpPr>
        <p:spPr>
          <a:xfrm>
            <a:off x="4617720" y="2743200"/>
            <a:ext cx="2956255" cy="13716"/>
          </a:xfrm>
          <a:prstGeom prst="rect">
            <a:avLst/>
          </a:prstGeom>
          <a:solidFill>
            <a:srgbClr val="334155"/>
          </a:solidFill>
          <a:ln/>
        </p:spPr>
      </p:sp>
      <p:sp>
        <p:nvSpPr>
          <p:cNvPr id="27" name="Shape 25"/>
          <p:cNvSpPr/>
          <p:nvPr/>
        </p:nvSpPr>
        <p:spPr>
          <a:xfrm>
            <a:off x="4617720" y="2926080"/>
            <a:ext cx="54864" cy="54864"/>
          </a:xfrm>
          <a:prstGeom prst="rect">
            <a:avLst/>
          </a:prstGeom>
          <a:solidFill>
            <a:srgbClr val="3B82F6"/>
          </a:solidFill>
          <a:ln/>
        </p:spPr>
      </p:sp>
      <p:sp>
        <p:nvSpPr>
          <p:cNvPr id="28" name="Text 26"/>
          <p:cNvSpPr/>
          <p:nvPr/>
        </p:nvSpPr>
        <p:spPr>
          <a:xfrm>
            <a:off x="4800600" y="288036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Form dinamis garansi otomatis muncul saat memilih jenis GARANSI atau ALIH SERVICE.</a:t>
            </a:r>
            <a:endParaRPr lang="en-US" sz="1050" dirty="0"/>
          </a:p>
        </p:txBody>
      </p:sp>
      <p:sp>
        <p:nvSpPr>
          <p:cNvPr id="29" name="Shape 27"/>
          <p:cNvSpPr/>
          <p:nvPr/>
        </p:nvSpPr>
        <p:spPr>
          <a:xfrm>
            <a:off x="4617720" y="3703320"/>
            <a:ext cx="54864" cy="54864"/>
          </a:xfrm>
          <a:prstGeom prst="rect">
            <a:avLst/>
          </a:prstGeom>
          <a:solidFill>
            <a:srgbClr val="3B82F6"/>
          </a:solidFill>
          <a:ln/>
        </p:spPr>
      </p:sp>
      <p:sp>
        <p:nvSpPr>
          <p:cNvPr id="30" name="Text 28"/>
          <p:cNvSpPr/>
          <p:nvPr/>
        </p:nvSpPr>
        <p:spPr>
          <a:xfrm>
            <a:off x="4800600" y="365760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Consolidated Surat Jalan: Multi-unit ke vendor yang sama digabungkan dalam 1 lembar Surat Jalan.</a:t>
            </a:r>
            <a:endParaRPr lang="en-US" sz="1050" dirty="0"/>
          </a:p>
        </p:txBody>
      </p:sp>
      <p:sp>
        <p:nvSpPr>
          <p:cNvPr id="31" name="Shape 29"/>
          <p:cNvSpPr/>
          <p:nvPr/>
        </p:nvSpPr>
        <p:spPr>
          <a:xfrm>
            <a:off x="4617720" y="4480560"/>
            <a:ext cx="54864" cy="54864"/>
          </a:xfrm>
          <a:prstGeom prst="rect">
            <a:avLst/>
          </a:prstGeom>
          <a:solidFill>
            <a:srgbClr val="3B82F6"/>
          </a:solidFill>
          <a:ln/>
        </p:spPr>
      </p:sp>
      <p:sp>
        <p:nvSpPr>
          <p:cNvPr id="32" name="Text 30"/>
          <p:cNvSpPr/>
          <p:nvPr/>
        </p:nvSpPr>
        <p:spPr>
          <a:xfrm>
            <a:off x="4800600" y="443484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Validasi wajib Serial Number Baru dari distributor jika hasil servis berstatus Diganti Baru.</a:t>
            </a:r>
            <a:endParaRPr lang="en-US" sz="1050" dirty="0"/>
          </a:p>
        </p:txBody>
      </p:sp>
      <p:sp>
        <p:nvSpPr>
          <p:cNvPr id="33" name="Shape 31"/>
          <p:cNvSpPr/>
          <p:nvPr/>
        </p:nvSpPr>
        <p:spPr>
          <a:xfrm>
            <a:off x="4617720" y="5257800"/>
            <a:ext cx="54864" cy="54864"/>
          </a:xfrm>
          <a:prstGeom prst="rect">
            <a:avLst/>
          </a:prstGeom>
          <a:solidFill>
            <a:srgbClr val="3B82F6"/>
          </a:solidFill>
          <a:ln/>
        </p:spPr>
      </p:sp>
      <p:sp>
        <p:nvSpPr>
          <p:cNvPr id="34" name="Text 32"/>
          <p:cNvSpPr/>
          <p:nvPr/>
        </p:nvSpPr>
        <p:spPr>
          <a:xfrm>
            <a:off x="4800600" y="521208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Layout cetak resmi A4 Surat Jalan dengan 3 kolom tanda tangan dan stiker label paket ekspedisi.</a:t>
            </a:r>
            <a:endParaRPr lang="en-US" sz="1050" dirty="0"/>
          </a:p>
        </p:txBody>
      </p:sp>
      <p:sp>
        <p:nvSpPr>
          <p:cNvPr id="35" name="Shape 33"/>
          <p:cNvSpPr/>
          <p:nvPr/>
        </p:nvSpPr>
        <p:spPr>
          <a:xfrm>
            <a:off x="8046720" y="1920240"/>
            <a:ext cx="3413455" cy="4206240"/>
          </a:xfrm>
          <a:prstGeom prst="rect">
            <a:avLst>
              <a:gd name="adj" fmla="val 2143"/>
            </a:avLst>
          </a:prstGeom>
          <a:solidFill>
            <a:srgbClr val="1E293B"/>
          </a:solidFill>
          <a:ln w="12700">
            <a:solidFill>
              <a:srgbClr val="334155"/>
            </a:solidFill>
            <a:prstDash val="solid"/>
          </a:ln>
        </p:spPr>
      </p:sp>
      <p:sp>
        <p:nvSpPr>
          <p:cNvPr id="36" name="Shape 34"/>
          <p:cNvSpPr/>
          <p:nvPr/>
        </p:nvSpPr>
        <p:spPr>
          <a:xfrm>
            <a:off x="8046720" y="1920240"/>
            <a:ext cx="73152" cy="4206240"/>
          </a:xfrm>
          <a:prstGeom prst="rect">
            <a:avLst/>
          </a:prstGeom>
          <a:solidFill>
            <a:srgbClr val="10B981"/>
          </a:solidFill>
          <a:ln/>
        </p:spPr>
      </p:sp>
      <p:sp>
        <p:nvSpPr>
          <p:cNvPr id="37" name="Text 35"/>
          <p:cNvSpPr/>
          <p:nvPr/>
        </p:nvSpPr>
        <p:spPr>
          <a:xfrm>
            <a:off x="82753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WhatsApp Engine &amp; Control</a:t>
            </a:r>
            <a:endParaRPr lang="en-US" sz="1400" dirty="0"/>
          </a:p>
        </p:txBody>
      </p:sp>
      <p:sp>
        <p:nvSpPr>
          <p:cNvPr id="38" name="Text 36"/>
          <p:cNvSpPr/>
          <p:nvPr/>
        </p:nvSpPr>
        <p:spPr>
          <a:xfrm>
            <a:off x="8275320" y="2450592"/>
            <a:ext cx="3001975" cy="228600"/>
          </a:xfrm>
          <a:prstGeom prst="rect">
            <a:avLst/>
          </a:prstGeom>
          <a:noFill/>
          <a:ln/>
        </p:spPr>
        <p:txBody>
          <a:bodyPr wrap="square" lIns="0" tIns="0" rIns="0" bIns="0" rtlCol="0" anchor="ctr"/>
          <a:lstStyle/>
          <a:p>
            <a:pPr indent="0" marL="0">
              <a:buNone/>
            </a:pPr>
            <a:r>
              <a:rPr lang="en-US" sz="950" b="1" dirty="0">
                <a:solidFill>
                  <a:srgbClr val="10B981"/>
                </a:solidFill>
                <a:latin typeface="Segoe UI" pitchFamily="34" charset="0"/>
                <a:ea typeface="Segoe UI" pitchFamily="34" charset="-122"/>
                <a:cs typeface="Segoe UI" pitchFamily="34" charset="-120"/>
              </a:rPr>
              <a:t>PILAR 03 • Automasi Komunikasi &amp; Akuntabilitas</a:t>
            </a:r>
            <a:endParaRPr lang="en-US" sz="950" dirty="0"/>
          </a:p>
        </p:txBody>
      </p:sp>
      <p:sp>
        <p:nvSpPr>
          <p:cNvPr id="39" name="Shape 37"/>
          <p:cNvSpPr/>
          <p:nvPr/>
        </p:nvSpPr>
        <p:spPr>
          <a:xfrm>
            <a:off x="8275320" y="2743200"/>
            <a:ext cx="2956255" cy="13716"/>
          </a:xfrm>
          <a:prstGeom prst="rect">
            <a:avLst/>
          </a:prstGeom>
          <a:solidFill>
            <a:srgbClr val="334155"/>
          </a:solidFill>
          <a:ln/>
        </p:spPr>
      </p:sp>
      <p:sp>
        <p:nvSpPr>
          <p:cNvPr id="40" name="Shape 38"/>
          <p:cNvSpPr/>
          <p:nvPr/>
        </p:nvSpPr>
        <p:spPr>
          <a:xfrm>
            <a:off x="8275320" y="2926080"/>
            <a:ext cx="54864" cy="54864"/>
          </a:xfrm>
          <a:prstGeom prst="rect">
            <a:avLst/>
          </a:prstGeom>
          <a:solidFill>
            <a:srgbClr val="10B981"/>
          </a:solidFill>
          <a:ln/>
        </p:spPr>
      </p:sp>
      <p:sp>
        <p:nvSpPr>
          <p:cNvPr id="41" name="Text 39"/>
          <p:cNvSpPr/>
          <p:nvPr/>
        </p:nvSpPr>
        <p:spPr>
          <a:xfrm>
            <a:off x="8458200" y="288036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Notifikasi tanda terima &amp; unit selesai 1-klik langsung ke nomor WhatsApp pelanggan.</a:t>
            </a:r>
            <a:endParaRPr lang="en-US" sz="1050" dirty="0"/>
          </a:p>
        </p:txBody>
      </p:sp>
      <p:sp>
        <p:nvSpPr>
          <p:cNvPr id="42" name="Shape 40"/>
          <p:cNvSpPr/>
          <p:nvPr/>
        </p:nvSpPr>
        <p:spPr>
          <a:xfrm>
            <a:off x="8275320" y="3703320"/>
            <a:ext cx="54864" cy="54864"/>
          </a:xfrm>
          <a:prstGeom prst="rect">
            <a:avLst/>
          </a:prstGeom>
          <a:solidFill>
            <a:srgbClr val="10B981"/>
          </a:solidFill>
          <a:ln/>
        </p:spPr>
      </p:sp>
      <p:sp>
        <p:nvSpPr>
          <p:cNvPr id="43" name="Text 41"/>
          <p:cNvSpPr/>
          <p:nvPr/>
        </p:nvSpPr>
        <p:spPr>
          <a:xfrm>
            <a:off x="8458200" y="365760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Pipeline Laporan Operasional Mingguan (setiap Kamis) dengan grouping nama distributor yang bersih.</a:t>
            </a:r>
            <a:endParaRPr lang="en-US" sz="1050" dirty="0"/>
          </a:p>
        </p:txBody>
      </p:sp>
      <p:sp>
        <p:nvSpPr>
          <p:cNvPr id="44" name="Shape 42"/>
          <p:cNvSpPr/>
          <p:nvPr/>
        </p:nvSpPr>
        <p:spPr>
          <a:xfrm>
            <a:off x="8275320" y="4480560"/>
            <a:ext cx="54864" cy="54864"/>
          </a:xfrm>
          <a:prstGeom prst="rect">
            <a:avLst/>
          </a:prstGeom>
          <a:solidFill>
            <a:srgbClr val="10B981"/>
          </a:solidFill>
          <a:ln/>
        </p:spPr>
      </p:sp>
      <p:sp>
        <p:nvSpPr>
          <p:cNvPr id="45" name="Text 43"/>
          <p:cNvSpPr/>
          <p:nvPr/>
        </p:nvSpPr>
        <p:spPr>
          <a:xfrm>
            <a:off x="8458200" y="443484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Pipeline Laporan Sales terisolasi khusus barang internal (STOCK BCT / GHITP) siap pajang.</a:t>
            </a:r>
            <a:endParaRPr lang="en-US" sz="1050" dirty="0"/>
          </a:p>
        </p:txBody>
      </p:sp>
      <p:sp>
        <p:nvSpPr>
          <p:cNvPr id="46" name="Shape 44"/>
          <p:cNvSpPr/>
          <p:nvPr/>
        </p:nvSpPr>
        <p:spPr>
          <a:xfrm>
            <a:off x="8275320" y="5257800"/>
            <a:ext cx="54864" cy="54864"/>
          </a:xfrm>
          <a:prstGeom prst="rect">
            <a:avLst/>
          </a:prstGeom>
          <a:solidFill>
            <a:srgbClr val="10B981"/>
          </a:solidFill>
          <a:ln/>
        </p:spPr>
      </p:sp>
      <p:sp>
        <p:nvSpPr>
          <p:cNvPr id="47" name="Text 45"/>
          <p:cNvSpPr/>
          <p:nvPr/>
        </p:nvSpPr>
        <p:spPr>
          <a:xfrm>
            <a:off x="8458200" y="5212080"/>
            <a:ext cx="2773375" cy="68580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Audit Trail mencatat nama teknisi pelaksana, timestamp, dan histori payload perubahan status.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03 / PEMBAGIAN WEWENANG</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Struktur Peran Pengguna &amp; Alur Kerja Lapangan</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Pemisahan tanggung jawab yang jelas untuk memastikan operasional tertib dan transparan</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 / 10</a:t>
            </a:r>
            <a:endParaRPr lang="en-US" sz="900" dirty="0"/>
          </a:p>
        </p:txBody>
      </p:sp>
      <p:sp>
        <p:nvSpPr>
          <p:cNvPr id="9" name="Shape 7"/>
          <p:cNvSpPr/>
          <p:nvPr/>
        </p:nvSpPr>
        <p:spPr>
          <a:xfrm>
            <a:off x="731520" y="1920240"/>
            <a:ext cx="5242255" cy="1920240"/>
          </a:xfrm>
          <a:prstGeom prst="rect">
            <a:avLst>
              <a:gd name="adj" fmla="val 3810"/>
            </a:avLst>
          </a:prstGeom>
          <a:solidFill>
            <a:srgbClr val="1E293B"/>
          </a:solidFill>
          <a:ln w="12700">
            <a:solidFill>
              <a:srgbClr val="334155"/>
            </a:solidFill>
            <a:prstDash val="solid"/>
          </a:ln>
        </p:spPr>
      </p:sp>
      <p:sp>
        <p:nvSpPr>
          <p:cNvPr id="10" name="Shape 8"/>
          <p:cNvSpPr/>
          <p:nvPr/>
        </p:nvSpPr>
        <p:spPr>
          <a:xfrm>
            <a:off x="731520" y="1920240"/>
            <a:ext cx="73152" cy="1920240"/>
          </a:xfrm>
          <a:prstGeom prst="rect">
            <a:avLst/>
          </a:prstGeom>
          <a:solidFill>
            <a:srgbClr val="F97316"/>
          </a:solidFill>
          <a:ln/>
        </p:spPr>
      </p:sp>
      <p:sp>
        <p:nvSpPr>
          <p:cNvPr id="11" name="Text 9"/>
          <p:cNvSpPr/>
          <p:nvPr/>
        </p:nvSpPr>
        <p:spPr>
          <a:xfrm>
            <a:off x="9601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Teknisi Servis</a:t>
            </a:r>
            <a:endParaRPr lang="en-US" sz="1400" dirty="0"/>
          </a:p>
        </p:txBody>
      </p:sp>
      <p:sp>
        <p:nvSpPr>
          <p:cNvPr id="12" name="Text 10"/>
          <p:cNvSpPr/>
          <p:nvPr/>
        </p:nvSpPr>
        <p:spPr>
          <a:xfrm>
            <a:off x="960120" y="2450592"/>
            <a:ext cx="4754880" cy="228600"/>
          </a:xfrm>
          <a:prstGeom prst="rect">
            <a:avLst/>
          </a:prstGeom>
          <a:noFill/>
          <a:ln/>
        </p:spPr>
        <p:txBody>
          <a:bodyPr wrap="square" lIns="0" tIns="0" rIns="0" bIns="0" rtlCol="0" anchor="ctr"/>
          <a:lstStyle/>
          <a:p>
            <a:pPr indent="0" marL="0">
              <a:buNone/>
            </a:pPr>
            <a:r>
              <a:rPr lang="en-US" sz="1000" b="1" dirty="0">
                <a:solidFill>
                  <a:srgbClr val="F97316"/>
                </a:solidFill>
                <a:latin typeface="Segoe UI" pitchFamily="34" charset="0"/>
                <a:ea typeface="Segoe UI" pitchFamily="34" charset="-122"/>
                <a:cs typeface="Segoe UI" pitchFamily="34" charset="-120"/>
              </a:rPr>
              <a:t>Wandi, Satryo, Derida, Anzar</a:t>
            </a:r>
            <a:endParaRPr lang="en-US" sz="1000" dirty="0"/>
          </a:p>
        </p:txBody>
      </p:sp>
      <p:sp>
        <p:nvSpPr>
          <p:cNvPr id="13" name="Text 11"/>
          <p:cNvSpPr/>
          <p:nvPr/>
        </p:nvSpPr>
        <p:spPr>
          <a:xfrm>
            <a:off x="960120" y="2697480"/>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Menerima unit masuk, memeriksa kondisi fisik, dan mencatat checklist kelengkapan barang.</a:t>
            </a:r>
            <a:endParaRPr lang="en-US" sz="950" dirty="0"/>
          </a:p>
        </p:txBody>
      </p:sp>
      <p:sp>
        <p:nvSpPr>
          <p:cNvPr id="14" name="Text 12"/>
          <p:cNvSpPr/>
          <p:nvPr/>
        </p:nvSpPr>
        <p:spPr>
          <a:xfrm>
            <a:off x="960120" y="2953512"/>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Melakukan diagnosis kerusakan, estimasi biaya perbaikan, dan pengujian fungsi unit.</a:t>
            </a:r>
            <a:endParaRPr lang="en-US" sz="950" dirty="0"/>
          </a:p>
        </p:txBody>
      </p:sp>
      <p:sp>
        <p:nvSpPr>
          <p:cNvPr id="15" name="Text 13"/>
          <p:cNvSpPr/>
          <p:nvPr/>
        </p:nvSpPr>
        <p:spPr>
          <a:xfrm>
            <a:off x="960120" y="3209544"/>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Mengupdate status pengerjaan (Proses Service, Pending, Selesai Belum Diambil, Gagal).</a:t>
            </a:r>
            <a:endParaRPr lang="en-US" sz="950" dirty="0"/>
          </a:p>
        </p:txBody>
      </p:sp>
      <p:sp>
        <p:nvSpPr>
          <p:cNvPr id="16" name="Text 14"/>
          <p:cNvSpPr/>
          <p:nvPr/>
        </p:nvSpPr>
        <p:spPr>
          <a:xfrm>
            <a:off x="960120" y="3465576"/>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Aturan Khusus: Servis reguler ditangani tim teknisi; Alur Garansi &amp; Alih Servis dipusatkan ke Wandi.</a:t>
            </a:r>
            <a:endParaRPr lang="en-US" sz="950" dirty="0"/>
          </a:p>
        </p:txBody>
      </p:sp>
      <p:sp>
        <p:nvSpPr>
          <p:cNvPr id="17" name="Shape 15"/>
          <p:cNvSpPr/>
          <p:nvPr/>
        </p:nvSpPr>
        <p:spPr>
          <a:xfrm>
            <a:off x="6217920" y="1920240"/>
            <a:ext cx="5242255" cy="1920240"/>
          </a:xfrm>
          <a:prstGeom prst="rect">
            <a:avLst>
              <a:gd name="adj" fmla="val 3810"/>
            </a:avLst>
          </a:prstGeom>
          <a:solidFill>
            <a:srgbClr val="1E293B"/>
          </a:solidFill>
          <a:ln w="12700">
            <a:solidFill>
              <a:srgbClr val="334155"/>
            </a:solidFill>
            <a:prstDash val="solid"/>
          </a:ln>
        </p:spPr>
      </p:sp>
      <p:sp>
        <p:nvSpPr>
          <p:cNvPr id="18" name="Shape 16"/>
          <p:cNvSpPr/>
          <p:nvPr/>
        </p:nvSpPr>
        <p:spPr>
          <a:xfrm>
            <a:off x="6217920" y="1920240"/>
            <a:ext cx="73152" cy="1920240"/>
          </a:xfrm>
          <a:prstGeom prst="rect">
            <a:avLst/>
          </a:prstGeom>
          <a:solidFill>
            <a:srgbClr val="3B82F6"/>
          </a:solidFill>
          <a:ln/>
        </p:spPr>
      </p:sp>
      <p:sp>
        <p:nvSpPr>
          <p:cNvPr id="19" name="Text 17"/>
          <p:cNvSpPr/>
          <p:nvPr/>
        </p:nvSpPr>
        <p:spPr>
          <a:xfrm>
            <a:off x="64465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Admin / Kasir</a:t>
            </a:r>
            <a:endParaRPr lang="en-US" sz="1400" dirty="0"/>
          </a:p>
        </p:txBody>
      </p:sp>
      <p:sp>
        <p:nvSpPr>
          <p:cNvPr id="20" name="Text 18"/>
          <p:cNvSpPr/>
          <p:nvPr/>
        </p:nvSpPr>
        <p:spPr>
          <a:xfrm>
            <a:off x="6446520" y="2450592"/>
            <a:ext cx="4754880" cy="228600"/>
          </a:xfrm>
          <a:prstGeom prst="rect">
            <a:avLst/>
          </a:prstGeom>
          <a:noFill/>
          <a:ln/>
        </p:spPr>
        <p:txBody>
          <a:bodyPr wrap="square" lIns="0" tIns="0" rIns="0" bIns="0"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Administrasi, Kasir &amp; Pengiriman</a:t>
            </a:r>
            <a:endParaRPr lang="en-US" sz="1000" dirty="0"/>
          </a:p>
        </p:txBody>
      </p:sp>
      <p:sp>
        <p:nvSpPr>
          <p:cNvPr id="21" name="Text 19"/>
          <p:cNvSpPr/>
          <p:nvPr/>
        </p:nvSpPr>
        <p:spPr>
          <a:xfrm>
            <a:off x="6446520" y="2697480"/>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Mengelola pembayaran uang muka (DP) dan pencatatan pelunasan sisa biaya servis.</a:t>
            </a:r>
            <a:endParaRPr lang="en-US" sz="950" dirty="0"/>
          </a:p>
        </p:txBody>
      </p:sp>
      <p:sp>
        <p:nvSpPr>
          <p:cNvPr id="22" name="Text 20"/>
          <p:cNvSpPr/>
          <p:nvPr/>
        </p:nvSpPr>
        <p:spPr>
          <a:xfrm>
            <a:off x="6446520" y="2953512"/>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Mencetak lembar tanda terima resmi untuk diserahkan ke pelanggan sebagai bukti pengambilan.</a:t>
            </a:r>
            <a:endParaRPr lang="en-US" sz="950" dirty="0"/>
          </a:p>
        </p:txBody>
      </p:sp>
      <p:sp>
        <p:nvSpPr>
          <p:cNvPr id="23" name="Text 21"/>
          <p:cNvSpPr/>
          <p:nvPr/>
        </p:nvSpPr>
        <p:spPr>
          <a:xfrm>
            <a:off x="6446520" y="3209544"/>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Mengelola jadwal kirim vendor dan menerbitkan nomor Surat Jalan mingguan (hari Sabtu).</a:t>
            </a:r>
            <a:endParaRPr lang="en-US" sz="950" dirty="0"/>
          </a:p>
        </p:txBody>
      </p:sp>
      <p:sp>
        <p:nvSpPr>
          <p:cNvPr id="24" name="Text 22"/>
          <p:cNvSpPr/>
          <p:nvPr/>
        </p:nvSpPr>
        <p:spPr>
          <a:xfrm>
            <a:off x="6446520" y="3465576"/>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Mencetak label alamat pengiriman paket kardus untuk ekspedisi (JNE, J&amp;T, Travel).</a:t>
            </a:r>
            <a:endParaRPr lang="en-US" sz="950" dirty="0"/>
          </a:p>
        </p:txBody>
      </p:sp>
      <p:sp>
        <p:nvSpPr>
          <p:cNvPr id="25" name="Shape 23"/>
          <p:cNvSpPr/>
          <p:nvPr/>
        </p:nvSpPr>
        <p:spPr>
          <a:xfrm>
            <a:off x="731520" y="4023360"/>
            <a:ext cx="5242255" cy="1920240"/>
          </a:xfrm>
          <a:prstGeom prst="rect">
            <a:avLst>
              <a:gd name="adj" fmla="val 3810"/>
            </a:avLst>
          </a:prstGeom>
          <a:solidFill>
            <a:srgbClr val="1E293B"/>
          </a:solidFill>
          <a:ln w="12700">
            <a:solidFill>
              <a:srgbClr val="334155"/>
            </a:solidFill>
            <a:prstDash val="solid"/>
          </a:ln>
        </p:spPr>
      </p:sp>
      <p:sp>
        <p:nvSpPr>
          <p:cNvPr id="26" name="Shape 24"/>
          <p:cNvSpPr/>
          <p:nvPr/>
        </p:nvSpPr>
        <p:spPr>
          <a:xfrm>
            <a:off x="731520" y="4023360"/>
            <a:ext cx="73152" cy="1920240"/>
          </a:xfrm>
          <a:prstGeom prst="rect">
            <a:avLst/>
          </a:prstGeom>
          <a:solidFill>
            <a:srgbClr val="10B981"/>
          </a:solidFill>
          <a:ln/>
        </p:spPr>
      </p:sp>
      <p:sp>
        <p:nvSpPr>
          <p:cNvPr id="27" name="Text 25"/>
          <p:cNvSpPr/>
          <p:nvPr/>
        </p:nvSpPr>
        <p:spPr>
          <a:xfrm>
            <a:off x="960120" y="420624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Tim Sales</a:t>
            </a:r>
            <a:endParaRPr lang="en-US" sz="1400" dirty="0"/>
          </a:p>
        </p:txBody>
      </p:sp>
      <p:sp>
        <p:nvSpPr>
          <p:cNvPr id="28" name="Text 26"/>
          <p:cNvSpPr/>
          <p:nvPr/>
        </p:nvSpPr>
        <p:spPr>
          <a:xfrm>
            <a:off x="960120" y="4553712"/>
            <a:ext cx="4754880" cy="228600"/>
          </a:xfrm>
          <a:prstGeom prst="rect">
            <a:avLst/>
          </a:prstGeom>
          <a:noFill/>
          <a:ln/>
        </p:spPr>
        <p:txBody>
          <a:bodyPr wrap="square" lIns="0" tIns="0" rIns="0" bIns="0" rtlCol="0" anchor="ctr"/>
          <a:lstStyle/>
          <a:p>
            <a:pPr indent="0" marL="0">
              <a:buNone/>
            </a:pPr>
            <a:r>
              <a:rPr lang="en-US" sz="1000" b="1" dirty="0">
                <a:solidFill>
                  <a:srgbClr val="10B981"/>
                </a:solidFill>
                <a:latin typeface="Segoe UI" pitchFamily="34" charset="0"/>
                <a:ea typeface="Segoe UI" pitchFamily="34" charset="-122"/>
                <a:cs typeface="Segoe UI" pitchFamily="34" charset="-120"/>
              </a:rPr>
              <a:t>Pengawasan Stok Toko (STOCK BCT / GHITP)</a:t>
            </a:r>
            <a:endParaRPr lang="en-US" sz="1000" dirty="0"/>
          </a:p>
        </p:txBody>
      </p:sp>
      <p:sp>
        <p:nvSpPr>
          <p:cNvPr id="29" name="Text 27"/>
          <p:cNvSpPr/>
          <p:nvPr/>
        </p:nvSpPr>
        <p:spPr>
          <a:xfrm>
            <a:off x="960120" y="4800600"/>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Memantau unit inventaris internal toko yang sedang dalam proses klaim garansi vendor.</a:t>
            </a:r>
            <a:endParaRPr lang="en-US" sz="950" dirty="0"/>
          </a:p>
        </p:txBody>
      </p:sp>
      <p:sp>
        <p:nvSpPr>
          <p:cNvPr id="30" name="Text 28"/>
          <p:cNvSpPr/>
          <p:nvPr/>
        </p:nvSpPr>
        <p:spPr>
          <a:xfrm>
            <a:off x="960120" y="5056632"/>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Menerima rekap berkala otomatis melalui saluran WhatsApp Sales khusus (0821-2008-1484).</a:t>
            </a:r>
            <a:endParaRPr lang="en-US" sz="950" dirty="0"/>
          </a:p>
        </p:txBody>
      </p:sp>
      <p:sp>
        <p:nvSpPr>
          <p:cNvPr id="31" name="Text 29"/>
          <p:cNvSpPr/>
          <p:nvPr/>
        </p:nvSpPr>
        <p:spPr>
          <a:xfrm>
            <a:off x="960120" y="5312664"/>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Mendapatkan nomor seri baru (SN Baru) pengganti dari distributor untuk segera diperbarui di stok.</a:t>
            </a:r>
            <a:endParaRPr lang="en-US" sz="950" dirty="0"/>
          </a:p>
        </p:txBody>
      </p:sp>
      <p:sp>
        <p:nvSpPr>
          <p:cNvPr id="32" name="Text 30"/>
          <p:cNvSpPr/>
          <p:nvPr/>
        </p:nvSpPr>
        <p:spPr>
          <a:xfrm>
            <a:off x="960120" y="5568696"/>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Mengalokasikan unit yang sudah selesai garansi kembali ke etalase penjualan toko.</a:t>
            </a:r>
            <a:endParaRPr lang="en-US" sz="950" dirty="0"/>
          </a:p>
        </p:txBody>
      </p:sp>
      <p:sp>
        <p:nvSpPr>
          <p:cNvPr id="33" name="Shape 31"/>
          <p:cNvSpPr/>
          <p:nvPr/>
        </p:nvSpPr>
        <p:spPr>
          <a:xfrm>
            <a:off x="6217920" y="4023360"/>
            <a:ext cx="5242255" cy="1920240"/>
          </a:xfrm>
          <a:prstGeom prst="rect">
            <a:avLst>
              <a:gd name="adj" fmla="val 3810"/>
            </a:avLst>
          </a:prstGeom>
          <a:solidFill>
            <a:srgbClr val="1E293B"/>
          </a:solidFill>
          <a:ln w="12700">
            <a:solidFill>
              <a:srgbClr val="334155"/>
            </a:solidFill>
            <a:prstDash val="solid"/>
          </a:ln>
        </p:spPr>
      </p:sp>
      <p:sp>
        <p:nvSpPr>
          <p:cNvPr id="34" name="Shape 32"/>
          <p:cNvSpPr/>
          <p:nvPr/>
        </p:nvSpPr>
        <p:spPr>
          <a:xfrm>
            <a:off x="6217920" y="4023360"/>
            <a:ext cx="73152" cy="1920240"/>
          </a:xfrm>
          <a:prstGeom prst="rect">
            <a:avLst/>
          </a:prstGeom>
          <a:solidFill>
            <a:srgbClr val="A855F7"/>
          </a:solidFill>
          <a:ln/>
        </p:spPr>
      </p:sp>
      <p:sp>
        <p:nvSpPr>
          <p:cNvPr id="35" name="Text 33"/>
          <p:cNvSpPr/>
          <p:nvPr/>
        </p:nvSpPr>
        <p:spPr>
          <a:xfrm>
            <a:off x="6446520" y="420624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Superadmin / Owner</a:t>
            </a:r>
            <a:endParaRPr lang="en-US" sz="1400" dirty="0"/>
          </a:p>
        </p:txBody>
      </p:sp>
      <p:sp>
        <p:nvSpPr>
          <p:cNvPr id="36" name="Text 34"/>
          <p:cNvSpPr/>
          <p:nvPr/>
        </p:nvSpPr>
        <p:spPr>
          <a:xfrm>
            <a:off x="6446520" y="4553712"/>
            <a:ext cx="4754880" cy="228600"/>
          </a:xfrm>
          <a:prstGeom prst="rect">
            <a:avLst/>
          </a:prstGeom>
          <a:noFill/>
          <a:ln/>
        </p:spPr>
        <p:txBody>
          <a:bodyPr wrap="square" lIns="0" tIns="0" rIns="0" bIns="0" rtlCol="0" anchor="ctr"/>
          <a:lstStyle/>
          <a:p>
            <a:pPr indent="0" marL="0">
              <a:buNone/>
            </a:pPr>
            <a:r>
              <a:rPr lang="en-US" sz="1000" b="1" dirty="0">
                <a:solidFill>
                  <a:srgbClr val="A855F7"/>
                </a:solidFill>
                <a:latin typeface="Segoe UI" pitchFamily="34" charset="0"/>
                <a:ea typeface="Segoe UI" pitchFamily="34" charset="-122"/>
                <a:cs typeface="Segoe UI" pitchFamily="34" charset="-120"/>
              </a:rPr>
              <a:t>Pengawasan Sistem &amp; Kebijakan</a:t>
            </a:r>
            <a:endParaRPr lang="en-US" sz="1000" dirty="0"/>
          </a:p>
        </p:txBody>
      </p:sp>
      <p:sp>
        <p:nvSpPr>
          <p:cNvPr id="37" name="Text 35"/>
          <p:cNvSpPr/>
          <p:nvPr/>
        </p:nvSpPr>
        <p:spPr>
          <a:xfrm>
            <a:off x="6446520" y="4800600"/>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Memantau metrik performa: jumlah servis aktif, unit pending konfirmasi, dan antrean vendor.</a:t>
            </a:r>
            <a:endParaRPr lang="en-US" sz="950" dirty="0"/>
          </a:p>
        </p:txBody>
      </p:sp>
      <p:sp>
        <p:nvSpPr>
          <p:cNvPr id="38" name="Text 36"/>
          <p:cNvSpPr/>
          <p:nvPr/>
        </p:nvSpPr>
        <p:spPr>
          <a:xfrm>
            <a:off x="6446520" y="5056632"/>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Memeriksa tabel Audit Trail untuk meninjau riwayat perubahan status dan log teknisi pelaksana.</a:t>
            </a:r>
            <a:endParaRPr lang="en-US" sz="950" dirty="0"/>
          </a:p>
        </p:txBody>
      </p:sp>
      <p:sp>
        <p:nvSpPr>
          <p:cNvPr id="39" name="Text 37"/>
          <p:cNvSpPr/>
          <p:nvPr/>
        </p:nvSpPr>
        <p:spPr>
          <a:xfrm>
            <a:off x="6446520" y="5312664"/>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Mengelola data master distributor vendor wilayah Bandung, Jakarta, dan wilayah lainnya.</a:t>
            </a:r>
            <a:endParaRPr lang="en-US" sz="950" dirty="0"/>
          </a:p>
        </p:txBody>
      </p:sp>
      <p:sp>
        <p:nvSpPr>
          <p:cNvPr id="40" name="Text 38"/>
          <p:cNvSpPr/>
          <p:nvPr/>
        </p:nvSpPr>
        <p:spPr>
          <a:xfrm>
            <a:off x="6446520" y="5568696"/>
            <a:ext cx="4754880" cy="237744"/>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Mengatur dan mereset otorisasi lisensi perangkat (5-Device Node-Lock).</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04 / FITUR UTAMA 1</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Dynamic Form Engine: Intake Cerdas di Meja Teknisi</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Formulir beradaptasi otomatis sesuai jenis perangkat dan alur layanan untuk mencegah salah input</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 / 10</a:t>
            </a:r>
            <a:endParaRPr lang="en-US" sz="900" dirty="0"/>
          </a:p>
        </p:txBody>
      </p:sp>
      <p:sp>
        <p:nvSpPr>
          <p:cNvPr id="9" name="Shape 7"/>
          <p:cNvSpPr/>
          <p:nvPr/>
        </p:nvSpPr>
        <p:spPr>
          <a:xfrm>
            <a:off x="731520" y="1920240"/>
            <a:ext cx="3413455" cy="4206240"/>
          </a:xfrm>
          <a:prstGeom prst="rect">
            <a:avLst>
              <a:gd name="adj" fmla="val 2143"/>
            </a:avLst>
          </a:prstGeom>
          <a:solidFill>
            <a:srgbClr val="1E293B"/>
          </a:solidFill>
          <a:ln w="12700">
            <a:solidFill>
              <a:srgbClr val="334155"/>
            </a:solidFill>
            <a:prstDash val="solid"/>
          </a:ln>
        </p:spPr>
      </p:sp>
      <p:sp>
        <p:nvSpPr>
          <p:cNvPr id="10" name="Shape 8"/>
          <p:cNvSpPr/>
          <p:nvPr/>
        </p:nvSpPr>
        <p:spPr>
          <a:xfrm>
            <a:off x="731520" y="1920240"/>
            <a:ext cx="73152" cy="4206240"/>
          </a:xfrm>
          <a:prstGeom prst="rect">
            <a:avLst/>
          </a:prstGeom>
          <a:solidFill>
            <a:srgbClr val="F97316"/>
          </a:solidFill>
          <a:ln/>
        </p:spPr>
      </p:sp>
      <p:sp>
        <p:nvSpPr>
          <p:cNvPr id="11" name="Text 9"/>
          <p:cNvSpPr/>
          <p:nvPr/>
        </p:nvSpPr>
        <p:spPr>
          <a:xfrm>
            <a:off x="9601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Penomoran &amp; Prefix Pelanggan</a:t>
            </a:r>
            <a:endParaRPr lang="en-US" sz="1400" dirty="0"/>
          </a:p>
        </p:txBody>
      </p:sp>
      <p:sp>
        <p:nvSpPr>
          <p:cNvPr id="12" name="Text 10"/>
          <p:cNvSpPr/>
          <p:nvPr/>
        </p:nvSpPr>
        <p:spPr>
          <a:xfrm>
            <a:off x="960120" y="2450592"/>
            <a:ext cx="3001975" cy="228600"/>
          </a:xfrm>
          <a:prstGeom prst="rect">
            <a:avLst/>
          </a:prstGeom>
          <a:noFill/>
          <a:ln/>
        </p:spPr>
        <p:txBody>
          <a:bodyPr wrap="square" lIns="0" tIns="0" rIns="0" bIns="0" rtlCol="0" anchor="ctr"/>
          <a:lstStyle/>
          <a:p>
            <a:pPr indent="0" marL="0">
              <a:buNone/>
            </a:pPr>
            <a:r>
              <a:rPr lang="en-US" sz="950" b="1" dirty="0">
                <a:solidFill>
                  <a:srgbClr val="F97316"/>
                </a:solidFill>
                <a:latin typeface="Segoe UI" pitchFamily="34" charset="0"/>
                <a:ea typeface="Segoe UI" pitchFamily="34" charset="-122"/>
                <a:cs typeface="Segoe UI" pitchFamily="34" charset="-120"/>
              </a:rPr>
              <a:t>Format Baku &amp; Konsisten</a:t>
            </a:r>
            <a:endParaRPr lang="en-US" sz="950" dirty="0"/>
          </a:p>
        </p:txBody>
      </p:sp>
      <p:sp>
        <p:nvSpPr>
          <p:cNvPr id="13" name="Shape 11"/>
          <p:cNvSpPr/>
          <p:nvPr/>
        </p:nvSpPr>
        <p:spPr>
          <a:xfrm>
            <a:off x="960120" y="2743200"/>
            <a:ext cx="2956255" cy="13716"/>
          </a:xfrm>
          <a:prstGeom prst="rect">
            <a:avLst/>
          </a:prstGeom>
          <a:solidFill>
            <a:srgbClr val="334155"/>
          </a:solidFill>
          <a:ln/>
        </p:spPr>
      </p:sp>
      <p:sp>
        <p:nvSpPr>
          <p:cNvPr id="14" name="Shape 12"/>
          <p:cNvSpPr/>
          <p:nvPr/>
        </p:nvSpPr>
        <p:spPr>
          <a:xfrm>
            <a:off x="960120" y="2971800"/>
            <a:ext cx="54864" cy="54864"/>
          </a:xfrm>
          <a:prstGeom prst="rect">
            <a:avLst/>
          </a:prstGeom>
          <a:solidFill>
            <a:srgbClr val="F97316"/>
          </a:solidFill>
          <a:ln/>
        </p:spPr>
      </p:sp>
      <p:sp>
        <p:nvSpPr>
          <p:cNvPr id="15" name="Text 13"/>
          <p:cNvSpPr/>
          <p:nvPr/>
        </p:nvSpPr>
        <p:spPr>
          <a:xfrm>
            <a:off x="1143000" y="292608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Format Otomatis BCTRS[YY]-[0000]: Menggunakan pola tahunan (contoh: BCTRS26-0312).</a:t>
            </a:r>
            <a:endParaRPr lang="en-US" sz="1050" dirty="0"/>
          </a:p>
        </p:txBody>
      </p:sp>
      <p:sp>
        <p:nvSpPr>
          <p:cNvPr id="16" name="Shape 14"/>
          <p:cNvSpPr/>
          <p:nvPr/>
        </p:nvSpPr>
        <p:spPr>
          <a:xfrm>
            <a:off x="960120" y="3931920"/>
            <a:ext cx="54864" cy="54864"/>
          </a:xfrm>
          <a:prstGeom prst="rect">
            <a:avLst/>
          </a:prstGeom>
          <a:solidFill>
            <a:srgbClr val="F97316"/>
          </a:solidFill>
          <a:ln/>
        </p:spPr>
      </p:sp>
      <p:sp>
        <p:nvSpPr>
          <p:cNvPr id="17" name="Text 15"/>
          <p:cNvSpPr/>
          <p:nvPr/>
        </p:nvSpPr>
        <p:spPr>
          <a:xfrm>
            <a:off x="1143000" y="388620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Dukungan Override Manual: Teknisi tetap dapat mengedit nomor layanan bila harus melompati nomor tanpa merusak data.</a:t>
            </a:r>
            <a:endParaRPr lang="en-US" sz="1050" dirty="0"/>
          </a:p>
        </p:txBody>
      </p:sp>
      <p:sp>
        <p:nvSpPr>
          <p:cNvPr id="18" name="Shape 16"/>
          <p:cNvSpPr/>
          <p:nvPr/>
        </p:nvSpPr>
        <p:spPr>
          <a:xfrm>
            <a:off x="960120" y="4892040"/>
            <a:ext cx="54864" cy="54864"/>
          </a:xfrm>
          <a:prstGeom prst="rect">
            <a:avLst/>
          </a:prstGeom>
          <a:solidFill>
            <a:srgbClr val="F97316"/>
          </a:solidFill>
          <a:ln/>
        </p:spPr>
      </p:sp>
      <p:sp>
        <p:nvSpPr>
          <p:cNvPr id="19" name="Text 17"/>
          <p:cNvSpPr/>
          <p:nvPr/>
        </p:nvSpPr>
        <p:spPr>
          <a:xfrm>
            <a:off x="1143000" y="484632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Prefix Standar TN/NY.: Nama pelanggan otomatis tersimpan dengan format standar TN/NY. NAMA untuk kerapian database dan nota.</a:t>
            </a:r>
            <a:endParaRPr lang="en-US" sz="1050" dirty="0"/>
          </a:p>
        </p:txBody>
      </p:sp>
      <p:sp>
        <p:nvSpPr>
          <p:cNvPr id="20" name="Shape 18"/>
          <p:cNvSpPr/>
          <p:nvPr/>
        </p:nvSpPr>
        <p:spPr>
          <a:xfrm>
            <a:off x="4389120" y="1920240"/>
            <a:ext cx="3413455" cy="4206240"/>
          </a:xfrm>
          <a:prstGeom prst="rect">
            <a:avLst>
              <a:gd name="adj" fmla="val 2143"/>
            </a:avLst>
          </a:prstGeom>
          <a:solidFill>
            <a:srgbClr val="1E293B"/>
          </a:solidFill>
          <a:ln w="12700">
            <a:solidFill>
              <a:srgbClr val="334155"/>
            </a:solidFill>
            <a:prstDash val="solid"/>
          </a:ln>
        </p:spPr>
      </p:sp>
      <p:sp>
        <p:nvSpPr>
          <p:cNvPr id="21" name="Shape 19"/>
          <p:cNvSpPr/>
          <p:nvPr/>
        </p:nvSpPr>
        <p:spPr>
          <a:xfrm>
            <a:off x="4389120" y="1920240"/>
            <a:ext cx="73152" cy="4206240"/>
          </a:xfrm>
          <a:prstGeom prst="rect">
            <a:avLst/>
          </a:prstGeom>
          <a:solidFill>
            <a:srgbClr val="3B82F6"/>
          </a:solidFill>
          <a:ln/>
        </p:spPr>
      </p:sp>
      <p:sp>
        <p:nvSpPr>
          <p:cNvPr id="22" name="Text 20"/>
          <p:cNvSpPr/>
          <p:nvPr/>
        </p:nvSpPr>
        <p:spPr>
          <a:xfrm>
            <a:off x="46177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Checklist Kelengkapan Adaptif</a:t>
            </a:r>
            <a:endParaRPr lang="en-US" sz="1400" dirty="0"/>
          </a:p>
        </p:txBody>
      </p:sp>
      <p:sp>
        <p:nvSpPr>
          <p:cNvPr id="23" name="Text 21"/>
          <p:cNvSpPr/>
          <p:nvPr/>
        </p:nvSpPr>
        <p:spPr>
          <a:xfrm>
            <a:off x="4617720" y="2450592"/>
            <a:ext cx="3001975" cy="228600"/>
          </a:xfrm>
          <a:prstGeom prst="rect">
            <a:avLst/>
          </a:prstGeom>
          <a:noFill/>
          <a:ln/>
        </p:spPr>
        <p:txBody>
          <a:bodyPr wrap="square" lIns="0" tIns="0" rIns="0" bIns="0" rtlCol="0" anchor="ctr"/>
          <a:lstStyle/>
          <a:p>
            <a:pPr indent="0" marL="0">
              <a:buNone/>
            </a:pPr>
            <a:r>
              <a:rPr lang="en-US" sz="950" b="1" dirty="0">
                <a:solidFill>
                  <a:srgbClr val="3B82F6"/>
                </a:solidFill>
                <a:latin typeface="Segoe UI" pitchFamily="34" charset="0"/>
                <a:ea typeface="Segoe UI" pitchFamily="34" charset="-122"/>
                <a:cs typeface="Segoe UI" pitchFamily="34" charset="-120"/>
              </a:rPr>
              <a:t>Checkbox Berubah Real-Time</a:t>
            </a:r>
            <a:endParaRPr lang="en-US" sz="950" dirty="0"/>
          </a:p>
        </p:txBody>
      </p:sp>
      <p:sp>
        <p:nvSpPr>
          <p:cNvPr id="24" name="Shape 22"/>
          <p:cNvSpPr/>
          <p:nvPr/>
        </p:nvSpPr>
        <p:spPr>
          <a:xfrm>
            <a:off x="4617720" y="2743200"/>
            <a:ext cx="2956255" cy="13716"/>
          </a:xfrm>
          <a:prstGeom prst="rect">
            <a:avLst/>
          </a:prstGeom>
          <a:solidFill>
            <a:srgbClr val="334155"/>
          </a:solidFill>
          <a:ln/>
        </p:spPr>
      </p:sp>
      <p:sp>
        <p:nvSpPr>
          <p:cNvPr id="25" name="Shape 23"/>
          <p:cNvSpPr/>
          <p:nvPr/>
        </p:nvSpPr>
        <p:spPr>
          <a:xfrm>
            <a:off x="4617720" y="2971800"/>
            <a:ext cx="54864" cy="54864"/>
          </a:xfrm>
          <a:prstGeom prst="rect">
            <a:avLst/>
          </a:prstGeom>
          <a:solidFill>
            <a:srgbClr val="3B82F6"/>
          </a:solidFill>
          <a:ln/>
        </p:spPr>
      </p:sp>
      <p:sp>
        <p:nvSpPr>
          <p:cNvPr id="26" name="Text 24"/>
          <p:cNvSpPr/>
          <p:nvPr/>
        </p:nvSpPr>
        <p:spPr>
          <a:xfrm>
            <a:off x="4800600" y="292608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Jika Perangkat = Laptop: Checklist menampilkan Unit, Charger, Tas, Baterai, Unit Saja, RAM, SSD.</a:t>
            </a:r>
            <a:endParaRPr lang="en-US" sz="1050" dirty="0"/>
          </a:p>
        </p:txBody>
      </p:sp>
      <p:sp>
        <p:nvSpPr>
          <p:cNvPr id="27" name="Shape 25"/>
          <p:cNvSpPr/>
          <p:nvPr/>
        </p:nvSpPr>
        <p:spPr>
          <a:xfrm>
            <a:off x="4617720" y="3931920"/>
            <a:ext cx="54864" cy="54864"/>
          </a:xfrm>
          <a:prstGeom prst="rect">
            <a:avLst/>
          </a:prstGeom>
          <a:solidFill>
            <a:srgbClr val="3B82F6"/>
          </a:solidFill>
          <a:ln/>
        </p:spPr>
      </p:sp>
      <p:sp>
        <p:nvSpPr>
          <p:cNvPr id="28" name="Text 26"/>
          <p:cNvSpPr/>
          <p:nvPr/>
        </p:nvSpPr>
        <p:spPr>
          <a:xfrm>
            <a:off x="4800600" y="388620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Jika Perangkat = PC: Menampilkan Tutup Case 1, Tutup Case Full, Dus, RAM, SSD, HDD, VGA, PSU.</a:t>
            </a:r>
            <a:endParaRPr lang="en-US" sz="1050" dirty="0"/>
          </a:p>
        </p:txBody>
      </p:sp>
      <p:sp>
        <p:nvSpPr>
          <p:cNvPr id="29" name="Shape 27"/>
          <p:cNvSpPr/>
          <p:nvPr/>
        </p:nvSpPr>
        <p:spPr>
          <a:xfrm>
            <a:off x="4617720" y="4892040"/>
            <a:ext cx="54864" cy="54864"/>
          </a:xfrm>
          <a:prstGeom prst="rect">
            <a:avLst/>
          </a:prstGeom>
          <a:solidFill>
            <a:srgbClr val="3B82F6"/>
          </a:solidFill>
          <a:ln/>
        </p:spPr>
      </p:sp>
      <p:sp>
        <p:nvSpPr>
          <p:cNvPr id="30" name="Text 28"/>
          <p:cNvSpPr/>
          <p:nvPr/>
        </p:nvSpPr>
        <p:spPr>
          <a:xfrm>
            <a:off x="4800600" y="484632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Jika Selain Laptop/PC: Otomatis menampilkan Fulldus, Unit Saja, Adaptor, Kabel Power.</a:t>
            </a:r>
            <a:endParaRPr lang="en-US" sz="1050" dirty="0"/>
          </a:p>
        </p:txBody>
      </p:sp>
      <p:sp>
        <p:nvSpPr>
          <p:cNvPr id="31" name="Shape 29"/>
          <p:cNvSpPr/>
          <p:nvPr/>
        </p:nvSpPr>
        <p:spPr>
          <a:xfrm>
            <a:off x="4617720" y="5852160"/>
            <a:ext cx="54864" cy="54864"/>
          </a:xfrm>
          <a:prstGeom prst="rect">
            <a:avLst/>
          </a:prstGeom>
          <a:solidFill>
            <a:srgbClr val="3B82F6"/>
          </a:solidFill>
          <a:ln/>
        </p:spPr>
      </p:sp>
      <p:sp>
        <p:nvSpPr>
          <p:cNvPr id="32" name="Text 30"/>
          <p:cNvSpPr/>
          <p:nvPr/>
        </p:nvSpPr>
        <p:spPr>
          <a:xfrm>
            <a:off x="4800600" y="580644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Mencegah risiko klaim barang tertinggal atau hilang tanpa bukti serah terima yang jelas.</a:t>
            </a:r>
            <a:endParaRPr lang="en-US" sz="1050" dirty="0"/>
          </a:p>
        </p:txBody>
      </p:sp>
      <p:sp>
        <p:nvSpPr>
          <p:cNvPr id="33" name="Shape 31"/>
          <p:cNvSpPr/>
          <p:nvPr/>
        </p:nvSpPr>
        <p:spPr>
          <a:xfrm>
            <a:off x="8046720" y="1920240"/>
            <a:ext cx="3413455" cy="4206240"/>
          </a:xfrm>
          <a:prstGeom prst="rect">
            <a:avLst>
              <a:gd name="adj" fmla="val 2143"/>
            </a:avLst>
          </a:prstGeom>
          <a:solidFill>
            <a:srgbClr val="1E293B"/>
          </a:solidFill>
          <a:ln w="12700">
            <a:solidFill>
              <a:srgbClr val="334155"/>
            </a:solidFill>
            <a:prstDash val="solid"/>
          </a:ln>
        </p:spPr>
      </p:sp>
      <p:sp>
        <p:nvSpPr>
          <p:cNvPr id="34" name="Shape 32"/>
          <p:cNvSpPr/>
          <p:nvPr/>
        </p:nvSpPr>
        <p:spPr>
          <a:xfrm>
            <a:off x="8046720" y="1920240"/>
            <a:ext cx="73152" cy="4206240"/>
          </a:xfrm>
          <a:prstGeom prst="rect">
            <a:avLst/>
          </a:prstGeom>
          <a:solidFill>
            <a:srgbClr val="10B981"/>
          </a:solidFill>
          <a:ln/>
        </p:spPr>
      </p:sp>
      <p:sp>
        <p:nvSpPr>
          <p:cNvPr id="35" name="Text 33"/>
          <p:cNvSpPr/>
          <p:nvPr/>
        </p:nvSpPr>
        <p:spPr>
          <a:xfrm>
            <a:off x="82753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Kalkulasi Keuangan Otomatis</a:t>
            </a:r>
            <a:endParaRPr lang="en-US" sz="1400" dirty="0"/>
          </a:p>
        </p:txBody>
      </p:sp>
      <p:sp>
        <p:nvSpPr>
          <p:cNvPr id="36" name="Text 34"/>
          <p:cNvSpPr/>
          <p:nvPr/>
        </p:nvSpPr>
        <p:spPr>
          <a:xfrm>
            <a:off x="8275320" y="2450592"/>
            <a:ext cx="3001975" cy="228600"/>
          </a:xfrm>
          <a:prstGeom prst="rect">
            <a:avLst/>
          </a:prstGeom>
          <a:noFill/>
          <a:ln/>
        </p:spPr>
        <p:txBody>
          <a:bodyPr wrap="square" lIns="0" tIns="0" rIns="0" bIns="0" rtlCol="0" anchor="ctr"/>
          <a:lstStyle/>
          <a:p>
            <a:pPr indent="0" marL="0">
              <a:buNone/>
            </a:pPr>
            <a:r>
              <a:rPr lang="en-US" sz="950" b="1" dirty="0">
                <a:solidFill>
                  <a:srgbClr val="10B981"/>
                </a:solidFill>
                <a:latin typeface="Segoe UI" pitchFamily="34" charset="0"/>
                <a:ea typeface="Segoe UI" pitchFamily="34" charset="-122"/>
                <a:cs typeface="Segoe UI" pitchFamily="34" charset="-120"/>
              </a:rPr>
              <a:t>Perhitungan Real-Time Tanpa Manual</a:t>
            </a:r>
            <a:endParaRPr lang="en-US" sz="950" dirty="0"/>
          </a:p>
        </p:txBody>
      </p:sp>
      <p:sp>
        <p:nvSpPr>
          <p:cNvPr id="37" name="Shape 35"/>
          <p:cNvSpPr/>
          <p:nvPr/>
        </p:nvSpPr>
        <p:spPr>
          <a:xfrm>
            <a:off x="8275320" y="2743200"/>
            <a:ext cx="2956255" cy="13716"/>
          </a:xfrm>
          <a:prstGeom prst="rect">
            <a:avLst/>
          </a:prstGeom>
          <a:solidFill>
            <a:srgbClr val="334155"/>
          </a:solidFill>
          <a:ln/>
        </p:spPr>
      </p:sp>
      <p:sp>
        <p:nvSpPr>
          <p:cNvPr id="38" name="Shape 36"/>
          <p:cNvSpPr/>
          <p:nvPr/>
        </p:nvSpPr>
        <p:spPr>
          <a:xfrm>
            <a:off x="8275320" y="2971800"/>
            <a:ext cx="54864" cy="54864"/>
          </a:xfrm>
          <a:prstGeom prst="rect">
            <a:avLst/>
          </a:prstGeom>
          <a:solidFill>
            <a:srgbClr val="10B981"/>
          </a:solidFill>
          <a:ln/>
        </p:spPr>
      </p:sp>
      <p:sp>
        <p:nvSpPr>
          <p:cNvPr id="39" name="Text 37"/>
          <p:cNvSpPr/>
          <p:nvPr/>
        </p:nvSpPr>
        <p:spPr>
          <a:xfrm>
            <a:off x="8458200" y="292608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Kalkulasi Sisa Otomatis: Sisa = Estimasi Biaya - DP dihitung langsung saat teknisi mengetik nominal.</a:t>
            </a:r>
            <a:endParaRPr lang="en-US" sz="1050" dirty="0"/>
          </a:p>
        </p:txBody>
      </p:sp>
      <p:sp>
        <p:nvSpPr>
          <p:cNvPr id="40" name="Shape 38"/>
          <p:cNvSpPr/>
          <p:nvPr/>
        </p:nvSpPr>
        <p:spPr>
          <a:xfrm>
            <a:off x="8275320" y="3931920"/>
            <a:ext cx="54864" cy="54864"/>
          </a:xfrm>
          <a:prstGeom prst="rect">
            <a:avLst/>
          </a:prstGeom>
          <a:solidFill>
            <a:srgbClr val="10B981"/>
          </a:solidFill>
          <a:ln/>
        </p:spPr>
      </p:sp>
      <p:sp>
        <p:nvSpPr>
          <p:cNvPr id="41" name="Text 39"/>
          <p:cNvSpPr/>
          <p:nvPr/>
        </p:nvSpPr>
        <p:spPr>
          <a:xfrm>
            <a:off x="8458200" y="388620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Trigger Biaya Akhir: Saat status diubah menjadi SELESAI &amp; DIAMBIL, kolom Biaya Akhir dan Tanggal Diambil otomatis terisi default waktu saat ini.</a:t>
            </a:r>
            <a:endParaRPr lang="en-US" sz="1050" dirty="0"/>
          </a:p>
        </p:txBody>
      </p:sp>
      <p:sp>
        <p:nvSpPr>
          <p:cNvPr id="42" name="Shape 40"/>
          <p:cNvSpPr/>
          <p:nvPr/>
        </p:nvSpPr>
        <p:spPr>
          <a:xfrm>
            <a:off x="8275320" y="4892040"/>
            <a:ext cx="54864" cy="54864"/>
          </a:xfrm>
          <a:prstGeom prst="rect">
            <a:avLst/>
          </a:prstGeom>
          <a:solidFill>
            <a:srgbClr val="10B981"/>
          </a:solidFill>
          <a:ln/>
        </p:spPr>
      </p:sp>
      <p:sp>
        <p:nvSpPr>
          <p:cNvPr id="43" name="Text 41"/>
          <p:cNvSpPr/>
          <p:nvPr/>
        </p:nvSpPr>
        <p:spPr>
          <a:xfrm>
            <a:off x="8458200" y="4846320"/>
            <a:ext cx="2773375" cy="868680"/>
          </a:xfrm>
          <a:prstGeom prst="rect">
            <a:avLst/>
          </a:prstGeom>
          <a:noFill/>
          <a:ln/>
        </p:spPr>
        <p:txBody>
          <a:bodyPr wrap="square" lIns="0" tIns="0" rIns="0" bIns="0"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Format Rupiah Terstandarisasi: Semua nominal mata uang diformat rapi (contoh: Rp 150.000).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05 / FITUR UTAMA 2</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Logistik Garansi Vendor: Distribusi Bandung &amp; Jakarta</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Pengendalian alur pengiriman distributor dengan surat jalan terpadu dan verifikasi nomor seri</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 / 10</a:t>
            </a:r>
            <a:endParaRPr lang="en-US" sz="900" dirty="0"/>
          </a:p>
        </p:txBody>
      </p:sp>
      <p:sp>
        <p:nvSpPr>
          <p:cNvPr id="9" name="Shape 7"/>
          <p:cNvSpPr/>
          <p:nvPr/>
        </p:nvSpPr>
        <p:spPr>
          <a:xfrm>
            <a:off x="731520" y="1920240"/>
            <a:ext cx="5242255" cy="4206240"/>
          </a:xfrm>
          <a:prstGeom prst="rect">
            <a:avLst>
              <a:gd name="adj" fmla="val 1739"/>
            </a:avLst>
          </a:prstGeom>
          <a:solidFill>
            <a:srgbClr val="1E293B"/>
          </a:solidFill>
          <a:ln w="12700">
            <a:solidFill>
              <a:srgbClr val="334155"/>
            </a:solidFill>
            <a:prstDash val="solid"/>
          </a:ln>
        </p:spPr>
      </p:sp>
      <p:sp>
        <p:nvSpPr>
          <p:cNvPr id="10" name="Shape 8"/>
          <p:cNvSpPr/>
          <p:nvPr/>
        </p:nvSpPr>
        <p:spPr>
          <a:xfrm>
            <a:off x="731520" y="1920240"/>
            <a:ext cx="73152" cy="4206240"/>
          </a:xfrm>
          <a:prstGeom prst="rect">
            <a:avLst/>
          </a:prstGeom>
          <a:solidFill>
            <a:srgbClr val="F97316"/>
          </a:solidFill>
          <a:ln/>
        </p:spPr>
      </p:sp>
      <p:sp>
        <p:nvSpPr>
          <p:cNvPr id="11" name="Text 9"/>
          <p:cNvSpPr/>
          <p:nvPr/>
        </p:nvSpPr>
        <p:spPr>
          <a:xfrm>
            <a:off x="9601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Alur Pengalihan &amp; Grouping Surat Jalan</a:t>
            </a:r>
            <a:endParaRPr lang="en-US" sz="1400" dirty="0"/>
          </a:p>
        </p:txBody>
      </p:sp>
      <p:sp>
        <p:nvSpPr>
          <p:cNvPr id="12" name="Text 10"/>
          <p:cNvSpPr/>
          <p:nvPr/>
        </p:nvSpPr>
        <p:spPr>
          <a:xfrm>
            <a:off x="960120" y="2450592"/>
            <a:ext cx="4754880" cy="228600"/>
          </a:xfrm>
          <a:prstGeom prst="rect">
            <a:avLst/>
          </a:prstGeom>
          <a:noFill/>
          <a:ln/>
        </p:spPr>
        <p:txBody>
          <a:bodyPr wrap="square" lIns="0" tIns="0" rIns="0" bIns="0" rtlCol="0" anchor="ctr"/>
          <a:lstStyle/>
          <a:p>
            <a:pPr indent="0" marL="0">
              <a:buNone/>
            </a:pPr>
            <a:r>
              <a:rPr lang="en-US" sz="1000" b="1" dirty="0">
                <a:solidFill>
                  <a:srgbClr val="F97316"/>
                </a:solidFill>
                <a:latin typeface="Segoe UI" pitchFamily="34" charset="0"/>
                <a:ea typeface="Segoe UI" pitchFamily="34" charset="-122"/>
                <a:cs typeface="Segoe UI" pitchFamily="34" charset="-120"/>
              </a:rPr>
              <a:t>Mekanisme Alur Garansi &amp; Alih Servis Pihak Ketiga</a:t>
            </a:r>
            <a:endParaRPr lang="en-US" sz="1000" dirty="0"/>
          </a:p>
        </p:txBody>
      </p:sp>
      <p:sp>
        <p:nvSpPr>
          <p:cNvPr id="13" name="Text 11"/>
          <p:cNvSpPr/>
          <p:nvPr/>
        </p:nvSpPr>
        <p:spPr>
          <a:xfrm>
            <a:off x="960120" y="2788920"/>
            <a:ext cx="4754880" cy="256032"/>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1.  Pemicu Kondisional Form Garansi</a:t>
            </a:r>
            <a:endParaRPr lang="en-US" sz="1100" dirty="0"/>
          </a:p>
        </p:txBody>
      </p:sp>
      <p:sp>
        <p:nvSpPr>
          <p:cNvPr id="14" name="Text 12"/>
          <p:cNvSpPr/>
          <p:nvPr/>
        </p:nvSpPr>
        <p:spPr>
          <a:xfrm>
            <a:off x="1234440" y="3063240"/>
            <a:ext cx="4480560" cy="68580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Saat jenis layanan GARANSI atau status ALIH SERVICE dipilih, sistem membuka field logistik khusus: Distributor Vendor, Tanggal Kirim, Tanggal Datang, dan Hasil Servis/Garansi.</a:t>
            </a:r>
            <a:endParaRPr lang="en-US" sz="1000" dirty="0"/>
          </a:p>
        </p:txBody>
      </p:sp>
      <p:sp>
        <p:nvSpPr>
          <p:cNvPr id="15" name="Text 13"/>
          <p:cNvSpPr/>
          <p:nvPr/>
        </p:nvSpPr>
        <p:spPr>
          <a:xfrm>
            <a:off x="960120" y="3840480"/>
            <a:ext cx="4754880" cy="256032"/>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2.  Consolidated Surat Jalan (Grouping)</a:t>
            </a:r>
            <a:endParaRPr lang="en-US" sz="1100" dirty="0"/>
          </a:p>
        </p:txBody>
      </p:sp>
      <p:sp>
        <p:nvSpPr>
          <p:cNvPr id="16" name="Text 14"/>
          <p:cNvSpPr/>
          <p:nvPr/>
        </p:nvSpPr>
        <p:spPr>
          <a:xfrm>
            <a:off x="1234440" y="4114800"/>
            <a:ext cx="4480560" cy="68580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Apabila beberapa unit dikirim ke distributor yang sama pada hari pengiriman (umumnya hari Sabtu), sistem menggabungkan unit-unit tersebut ke dalam satu Nomor Surat Jalan tunggal (misal: SJ-BCTRS-260015).</a:t>
            </a:r>
            <a:endParaRPr lang="en-US" sz="1000" dirty="0"/>
          </a:p>
        </p:txBody>
      </p:sp>
      <p:sp>
        <p:nvSpPr>
          <p:cNvPr id="17" name="Text 15"/>
          <p:cNvSpPr/>
          <p:nvPr/>
        </p:nvSpPr>
        <p:spPr>
          <a:xfrm>
            <a:off x="960120" y="4892040"/>
            <a:ext cx="4754880" cy="256032"/>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3.  Integrasi Data Master Vendor</a:t>
            </a:r>
            <a:endParaRPr lang="en-US" sz="1100" dirty="0"/>
          </a:p>
        </p:txBody>
      </p:sp>
      <p:sp>
        <p:nvSpPr>
          <p:cNvPr id="18" name="Text 16"/>
          <p:cNvSpPr/>
          <p:nvPr/>
        </p:nvSpPr>
        <p:spPr>
          <a:xfrm>
            <a:off x="1234440" y="5166360"/>
            <a:ext cx="4480560" cy="68580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Dropdown vendor terhubung langsung ke tabel master_vendors, mencakup nama distributor resmi, wilayah operasional (Bandung / Jakarta / Other), alamat gudang, dan kontak WhatsApp PIC distributor.</a:t>
            </a:r>
            <a:endParaRPr lang="en-US" sz="1000" dirty="0"/>
          </a:p>
        </p:txBody>
      </p:sp>
      <p:sp>
        <p:nvSpPr>
          <p:cNvPr id="19" name="Shape 17"/>
          <p:cNvSpPr/>
          <p:nvPr/>
        </p:nvSpPr>
        <p:spPr>
          <a:xfrm>
            <a:off x="6217920" y="1920240"/>
            <a:ext cx="5242255" cy="4206240"/>
          </a:xfrm>
          <a:prstGeom prst="rect">
            <a:avLst>
              <a:gd name="adj" fmla="val 1739"/>
            </a:avLst>
          </a:prstGeom>
          <a:solidFill>
            <a:srgbClr val="1E293B"/>
          </a:solidFill>
          <a:ln w="12700">
            <a:solidFill>
              <a:srgbClr val="334155"/>
            </a:solidFill>
            <a:prstDash val="solid"/>
          </a:ln>
        </p:spPr>
      </p:sp>
      <p:sp>
        <p:nvSpPr>
          <p:cNvPr id="20" name="Shape 18"/>
          <p:cNvSpPr/>
          <p:nvPr/>
        </p:nvSpPr>
        <p:spPr>
          <a:xfrm>
            <a:off x="6217920" y="1920240"/>
            <a:ext cx="73152" cy="4206240"/>
          </a:xfrm>
          <a:prstGeom prst="rect">
            <a:avLst/>
          </a:prstGeom>
          <a:solidFill>
            <a:srgbClr val="3B82F6"/>
          </a:solidFill>
          <a:ln/>
        </p:spPr>
      </p:sp>
      <p:sp>
        <p:nvSpPr>
          <p:cNvPr id="21" name="Text 19"/>
          <p:cNvSpPr/>
          <p:nvPr/>
        </p:nvSpPr>
        <p:spPr>
          <a:xfrm>
            <a:off x="64465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Validasi Pergantian Unit &amp; Cetak Dokumen</a:t>
            </a:r>
            <a:endParaRPr lang="en-US" sz="1400" dirty="0"/>
          </a:p>
        </p:txBody>
      </p:sp>
      <p:sp>
        <p:nvSpPr>
          <p:cNvPr id="22" name="Text 20"/>
          <p:cNvSpPr/>
          <p:nvPr/>
        </p:nvSpPr>
        <p:spPr>
          <a:xfrm>
            <a:off x="6446520" y="2450592"/>
            <a:ext cx="4754880" cy="228600"/>
          </a:xfrm>
          <a:prstGeom prst="rect">
            <a:avLst/>
          </a:prstGeom>
          <a:noFill/>
          <a:ln/>
        </p:spPr>
        <p:txBody>
          <a:bodyPr wrap="square" lIns="0" tIns="0" rIns="0" bIns="0"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Standar Dokumen Fisik &amp; Pelacakan Serial Number Baru</a:t>
            </a:r>
            <a:endParaRPr lang="en-US" sz="1000" dirty="0"/>
          </a:p>
        </p:txBody>
      </p:sp>
      <p:sp>
        <p:nvSpPr>
          <p:cNvPr id="23" name="Text 21"/>
          <p:cNvSpPr/>
          <p:nvPr/>
        </p:nvSpPr>
        <p:spPr>
          <a:xfrm>
            <a:off x="6446520" y="2788920"/>
            <a:ext cx="4754880" cy="256032"/>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1.  Validasi Wajib Serial Number Baru</a:t>
            </a:r>
            <a:endParaRPr lang="en-US" sz="1100" dirty="0"/>
          </a:p>
        </p:txBody>
      </p:sp>
      <p:sp>
        <p:nvSpPr>
          <p:cNvPr id="24" name="Text 22"/>
          <p:cNvSpPr/>
          <p:nvPr/>
        </p:nvSpPr>
        <p:spPr>
          <a:xfrm>
            <a:off x="6720840" y="3063240"/>
            <a:ext cx="4480560" cy="68580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Jika hasil garansi vendor adalah "Diganti baru", sistem memberlakukan validasi ketat di mana teknisi wajib menginput Serial Number Baru dari unit pengganti sebelum tiket dapat ditutup.</a:t>
            </a:r>
            <a:endParaRPr lang="en-US" sz="1000" dirty="0"/>
          </a:p>
        </p:txBody>
      </p:sp>
      <p:sp>
        <p:nvSpPr>
          <p:cNvPr id="25" name="Text 23"/>
          <p:cNvSpPr/>
          <p:nvPr/>
        </p:nvSpPr>
        <p:spPr>
          <a:xfrm>
            <a:off x="6446520" y="3840480"/>
            <a:ext cx="4754880" cy="256032"/>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2.  Template Cetak Surat Jalan A4 Resmi</a:t>
            </a:r>
            <a:endParaRPr lang="en-US" sz="1100" dirty="0"/>
          </a:p>
        </p:txBody>
      </p:sp>
      <p:sp>
        <p:nvSpPr>
          <p:cNvPr id="26" name="Text 24"/>
          <p:cNvSpPr/>
          <p:nvPr/>
        </p:nvSpPr>
        <p:spPr>
          <a:xfrm>
            <a:off x="6720840" y="4114800"/>
            <a:ext cx="4480560" cy="68580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Layout cetak A4 siap print yang rapi dengan kop resmi toko, rincian seluruh perangkat yang termasuk dalam nomor SJ terkait, serta 3 kolom tanda tangan legal: Pengirim Toko, Ekspedisi, dan Penerima Vendor.</a:t>
            </a:r>
            <a:endParaRPr lang="en-US" sz="1000" dirty="0"/>
          </a:p>
        </p:txBody>
      </p:sp>
      <p:sp>
        <p:nvSpPr>
          <p:cNvPr id="27" name="Text 25"/>
          <p:cNvSpPr/>
          <p:nvPr/>
        </p:nvSpPr>
        <p:spPr>
          <a:xfrm>
            <a:off x="6446520" y="4892040"/>
            <a:ext cx="4754880" cy="256032"/>
          </a:xfrm>
          <a:prstGeom prst="rect">
            <a:avLst/>
          </a:prstGeom>
          <a:noFill/>
          <a:ln/>
        </p:spPr>
        <p:txBody>
          <a:bodyPr wrap="square" lIns="0" tIns="0" rIns="0" bIns="0"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3.  Cetak Stiker Label Alamat Pengiriman</a:t>
            </a:r>
            <a:endParaRPr lang="en-US" sz="1100" dirty="0"/>
          </a:p>
        </p:txBody>
      </p:sp>
      <p:sp>
        <p:nvSpPr>
          <p:cNvPr id="28" name="Text 26"/>
          <p:cNvSpPr/>
          <p:nvPr/>
        </p:nvSpPr>
        <p:spPr>
          <a:xfrm>
            <a:off x="6720840" y="5166360"/>
            <a:ext cx="4480560" cy="68580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Fitur cetak label stiker ukuran dus paket untuk ditempel pada kardus pengiriman ekspedisi (JNE/J&amp;T), memuat data pengirim Best Computel dan alamat lengkap vendor tujuan secara otomatis.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06 / FITUR UTAMA 3</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Dual-Pipeline WhatsApp: Automasi Komunikasi 3 Jalur</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Mengeliminasi pekerjaan manual salin-tempel pesan dan memastikan akurasi data ke setiap target</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7 / 10</a:t>
            </a:r>
            <a:endParaRPr lang="en-US" sz="900" dirty="0"/>
          </a:p>
        </p:txBody>
      </p:sp>
      <p:sp>
        <p:nvSpPr>
          <p:cNvPr id="9" name="Shape 7"/>
          <p:cNvSpPr/>
          <p:nvPr/>
        </p:nvSpPr>
        <p:spPr>
          <a:xfrm>
            <a:off x="731520" y="1920240"/>
            <a:ext cx="3413455" cy="4206240"/>
          </a:xfrm>
          <a:prstGeom prst="rect">
            <a:avLst>
              <a:gd name="adj" fmla="val 2143"/>
            </a:avLst>
          </a:prstGeom>
          <a:solidFill>
            <a:srgbClr val="1E293B"/>
          </a:solidFill>
          <a:ln w="12700">
            <a:solidFill>
              <a:srgbClr val="334155"/>
            </a:solidFill>
            <a:prstDash val="solid"/>
          </a:ln>
        </p:spPr>
      </p:sp>
      <p:sp>
        <p:nvSpPr>
          <p:cNvPr id="10" name="Shape 8"/>
          <p:cNvSpPr/>
          <p:nvPr/>
        </p:nvSpPr>
        <p:spPr>
          <a:xfrm>
            <a:off x="731520" y="1920240"/>
            <a:ext cx="73152" cy="4206240"/>
          </a:xfrm>
          <a:prstGeom prst="rect">
            <a:avLst/>
          </a:prstGeom>
          <a:solidFill>
            <a:srgbClr val="F97316"/>
          </a:solidFill>
          <a:ln/>
        </p:spPr>
      </p:sp>
      <p:sp>
        <p:nvSpPr>
          <p:cNvPr id="11" name="Text 9"/>
          <p:cNvSpPr/>
          <p:nvPr/>
        </p:nvSpPr>
        <p:spPr>
          <a:xfrm>
            <a:off x="9601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Notifikasi Pelanggan</a:t>
            </a:r>
            <a:endParaRPr lang="en-US" sz="1400" dirty="0"/>
          </a:p>
        </p:txBody>
      </p:sp>
      <p:sp>
        <p:nvSpPr>
          <p:cNvPr id="12" name="Text 10"/>
          <p:cNvSpPr/>
          <p:nvPr/>
        </p:nvSpPr>
        <p:spPr>
          <a:xfrm>
            <a:off x="960120" y="2450592"/>
            <a:ext cx="3001975" cy="228600"/>
          </a:xfrm>
          <a:prstGeom prst="rect">
            <a:avLst/>
          </a:prstGeom>
          <a:noFill/>
          <a:ln/>
        </p:spPr>
        <p:txBody>
          <a:bodyPr wrap="square" lIns="0" tIns="0" rIns="0" bIns="0" rtlCol="0" anchor="ctr"/>
          <a:lstStyle/>
          <a:p>
            <a:pPr indent="0" marL="0">
              <a:buNone/>
            </a:pPr>
            <a:r>
              <a:rPr lang="en-US" sz="950" b="1" dirty="0">
                <a:solidFill>
                  <a:srgbClr val="F97316"/>
                </a:solidFill>
                <a:latin typeface="Segoe UI" pitchFamily="34" charset="0"/>
                <a:ea typeface="Segoe UI" pitchFamily="34" charset="-122"/>
                <a:cs typeface="Segoe UI" pitchFamily="34" charset="-120"/>
              </a:rPr>
              <a:t>JALUR 1 • Pesan Transaksional Pelanggan</a:t>
            </a:r>
            <a:endParaRPr lang="en-US" sz="950" dirty="0"/>
          </a:p>
        </p:txBody>
      </p:sp>
      <p:sp>
        <p:nvSpPr>
          <p:cNvPr id="13" name="Text 11"/>
          <p:cNvSpPr/>
          <p:nvPr/>
        </p:nvSpPr>
        <p:spPr>
          <a:xfrm>
            <a:off x="960120" y="2724912"/>
            <a:ext cx="2956255" cy="411480"/>
          </a:xfrm>
          <a:prstGeom prst="rect">
            <a:avLst/>
          </a:prstGeom>
          <a:noFill/>
          <a:ln/>
        </p:spPr>
        <p:txBody>
          <a:bodyPr wrap="square" lIns="0" tIns="0" rIns="0" bIns="0" rtlCol="0" anchor="ctr"/>
          <a:lstStyle/>
          <a:p>
            <a:pPr indent="0" marL="0">
              <a:buNone/>
            </a:pPr>
            <a:r>
              <a:rPr lang="en-US" sz="1000" dirty="0">
                <a:solidFill>
                  <a:srgbClr val="FFFFFF"/>
                </a:solidFill>
                <a:latin typeface="Segoe UI" pitchFamily="34" charset="0"/>
                <a:ea typeface="Segoe UI" pitchFamily="34" charset="-122"/>
                <a:cs typeface="Segoe UI" pitchFamily="34" charset="-120"/>
              </a:rPr>
              <a:t>Tanda terima instan saat unit masuk &amp; pengumuman unit selesai siap diambil.</a:t>
            </a:r>
            <a:endParaRPr lang="en-US" sz="1000" dirty="0"/>
          </a:p>
        </p:txBody>
      </p:sp>
      <p:sp>
        <p:nvSpPr>
          <p:cNvPr id="14" name="Shape 12"/>
          <p:cNvSpPr/>
          <p:nvPr/>
        </p:nvSpPr>
        <p:spPr>
          <a:xfrm>
            <a:off x="960120" y="3200400"/>
            <a:ext cx="2956255" cy="13716"/>
          </a:xfrm>
          <a:prstGeom prst="rect">
            <a:avLst/>
          </a:prstGeom>
          <a:solidFill>
            <a:srgbClr val="334155"/>
          </a:solidFill>
          <a:ln/>
        </p:spPr>
      </p:sp>
      <p:sp>
        <p:nvSpPr>
          <p:cNvPr id="15" name="Shape 13"/>
          <p:cNvSpPr/>
          <p:nvPr/>
        </p:nvSpPr>
        <p:spPr>
          <a:xfrm>
            <a:off x="960120" y="3383280"/>
            <a:ext cx="54864" cy="54864"/>
          </a:xfrm>
          <a:prstGeom prst="rect">
            <a:avLst/>
          </a:prstGeom>
          <a:solidFill>
            <a:srgbClr val="F97316"/>
          </a:solidFill>
          <a:ln/>
        </p:spPr>
      </p:sp>
      <p:sp>
        <p:nvSpPr>
          <p:cNvPr id="16" name="Text 14"/>
          <p:cNvSpPr/>
          <p:nvPr/>
        </p:nvSpPr>
        <p:spPr>
          <a:xfrm>
            <a:off x="1143000" y="333756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Template A (Tanda Terima Masuk): Mengirimkan No RMA, nama barang, SN, keluhan, kelengkapan, dan estimasi selesai sebagai bukti digital serah terima.</a:t>
            </a:r>
            <a:endParaRPr lang="en-US" sz="1000" dirty="0"/>
          </a:p>
        </p:txBody>
      </p:sp>
      <p:sp>
        <p:nvSpPr>
          <p:cNvPr id="17" name="Shape 15"/>
          <p:cNvSpPr/>
          <p:nvPr/>
        </p:nvSpPr>
        <p:spPr>
          <a:xfrm>
            <a:off x="960120" y="4251960"/>
            <a:ext cx="54864" cy="54864"/>
          </a:xfrm>
          <a:prstGeom prst="rect">
            <a:avLst/>
          </a:prstGeom>
          <a:solidFill>
            <a:srgbClr val="F97316"/>
          </a:solidFill>
          <a:ln/>
        </p:spPr>
      </p:sp>
      <p:sp>
        <p:nvSpPr>
          <p:cNvPr id="18" name="Text 16"/>
          <p:cNvSpPr/>
          <p:nvPr/>
        </p:nvSpPr>
        <p:spPr>
          <a:xfrm>
            <a:off x="1143000" y="420624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Template B (Unit Selesai): Memberitahukan bahwa unit selesai diperbaiki lengkap dengan rincian jam operasional toko untuk pengambilan.</a:t>
            </a:r>
            <a:endParaRPr lang="en-US" sz="1000" dirty="0"/>
          </a:p>
        </p:txBody>
      </p:sp>
      <p:sp>
        <p:nvSpPr>
          <p:cNvPr id="19" name="Shape 17"/>
          <p:cNvSpPr/>
          <p:nvPr/>
        </p:nvSpPr>
        <p:spPr>
          <a:xfrm>
            <a:off x="960120" y="5120640"/>
            <a:ext cx="54864" cy="54864"/>
          </a:xfrm>
          <a:prstGeom prst="rect">
            <a:avLst/>
          </a:prstGeom>
          <a:solidFill>
            <a:srgbClr val="F97316"/>
          </a:solidFill>
          <a:ln/>
        </p:spPr>
      </p:sp>
      <p:sp>
        <p:nvSpPr>
          <p:cNvPr id="20" name="Text 18"/>
          <p:cNvSpPr/>
          <p:nvPr/>
        </p:nvSpPr>
        <p:spPr>
          <a:xfrm>
            <a:off x="1143000" y="507492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Tombol 1-klik membuka WhatsApp Web / Desktop langsung dengan pesan terformat rapi.</a:t>
            </a:r>
            <a:endParaRPr lang="en-US" sz="1000" dirty="0"/>
          </a:p>
        </p:txBody>
      </p:sp>
      <p:sp>
        <p:nvSpPr>
          <p:cNvPr id="21" name="Shape 19"/>
          <p:cNvSpPr/>
          <p:nvPr/>
        </p:nvSpPr>
        <p:spPr>
          <a:xfrm>
            <a:off x="4389120" y="1920240"/>
            <a:ext cx="3413455" cy="4206240"/>
          </a:xfrm>
          <a:prstGeom prst="rect">
            <a:avLst>
              <a:gd name="adj" fmla="val 2143"/>
            </a:avLst>
          </a:prstGeom>
          <a:solidFill>
            <a:srgbClr val="1E293B"/>
          </a:solidFill>
          <a:ln w="12700">
            <a:solidFill>
              <a:srgbClr val="334155"/>
            </a:solidFill>
            <a:prstDash val="solid"/>
          </a:ln>
        </p:spPr>
      </p:sp>
      <p:sp>
        <p:nvSpPr>
          <p:cNvPr id="22" name="Shape 20"/>
          <p:cNvSpPr/>
          <p:nvPr/>
        </p:nvSpPr>
        <p:spPr>
          <a:xfrm>
            <a:off x="4389120" y="1920240"/>
            <a:ext cx="73152" cy="4206240"/>
          </a:xfrm>
          <a:prstGeom prst="rect">
            <a:avLst/>
          </a:prstGeom>
          <a:solidFill>
            <a:srgbClr val="3B82F6"/>
          </a:solidFill>
          <a:ln/>
        </p:spPr>
      </p:sp>
      <p:sp>
        <p:nvSpPr>
          <p:cNvPr id="23" name="Text 21"/>
          <p:cNvSpPr/>
          <p:nvPr/>
        </p:nvSpPr>
        <p:spPr>
          <a:xfrm>
            <a:off x="46177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Laporan Operasional</a:t>
            </a:r>
            <a:endParaRPr lang="en-US" sz="1400" dirty="0"/>
          </a:p>
        </p:txBody>
      </p:sp>
      <p:sp>
        <p:nvSpPr>
          <p:cNvPr id="24" name="Text 22"/>
          <p:cNvSpPr/>
          <p:nvPr/>
        </p:nvSpPr>
        <p:spPr>
          <a:xfrm>
            <a:off x="4617720" y="2450592"/>
            <a:ext cx="3001975" cy="228600"/>
          </a:xfrm>
          <a:prstGeom prst="rect">
            <a:avLst/>
          </a:prstGeom>
          <a:noFill/>
          <a:ln/>
        </p:spPr>
        <p:txBody>
          <a:bodyPr wrap="square" lIns="0" tIns="0" rIns="0" bIns="0" rtlCol="0" anchor="ctr"/>
          <a:lstStyle/>
          <a:p>
            <a:pPr indent="0" marL="0">
              <a:buNone/>
            </a:pPr>
            <a:r>
              <a:rPr lang="en-US" sz="950" b="1" dirty="0">
                <a:solidFill>
                  <a:srgbClr val="3B82F6"/>
                </a:solidFill>
                <a:latin typeface="Segoe UI" pitchFamily="34" charset="0"/>
                <a:ea typeface="Segoe UI" pitchFamily="34" charset="-122"/>
                <a:cs typeface="Segoe UI" pitchFamily="34" charset="-120"/>
              </a:rPr>
              <a:t>JALUR 2 • Rekap Mingguan Tim Teknisi</a:t>
            </a:r>
            <a:endParaRPr lang="en-US" sz="950" dirty="0"/>
          </a:p>
        </p:txBody>
      </p:sp>
      <p:sp>
        <p:nvSpPr>
          <p:cNvPr id="25" name="Text 23"/>
          <p:cNvSpPr/>
          <p:nvPr/>
        </p:nvSpPr>
        <p:spPr>
          <a:xfrm>
            <a:off x="4617720" y="2724912"/>
            <a:ext cx="2956255" cy="411480"/>
          </a:xfrm>
          <a:prstGeom prst="rect">
            <a:avLst/>
          </a:prstGeom>
          <a:noFill/>
          <a:ln/>
        </p:spPr>
        <p:txBody>
          <a:bodyPr wrap="square" lIns="0" tIns="0" rIns="0" bIns="0" rtlCol="0" anchor="ctr"/>
          <a:lstStyle/>
          <a:p>
            <a:pPr indent="0" marL="0">
              <a:buNone/>
            </a:pPr>
            <a:r>
              <a:rPr lang="en-US" sz="1000" dirty="0">
                <a:solidFill>
                  <a:srgbClr val="FFFFFF"/>
                </a:solidFill>
                <a:latin typeface="Segoe UI" pitchFamily="34" charset="0"/>
                <a:ea typeface="Segoe UI" pitchFamily="34" charset="-122"/>
                <a:cs typeface="Segoe UI" pitchFamily="34" charset="-120"/>
              </a:rPr>
              <a:t>Broadcast ke Grup WhatsApp Tim Operasional setiap hari Kamis.</a:t>
            </a:r>
            <a:endParaRPr lang="en-US" sz="1000" dirty="0"/>
          </a:p>
        </p:txBody>
      </p:sp>
      <p:sp>
        <p:nvSpPr>
          <p:cNvPr id="26" name="Shape 24"/>
          <p:cNvSpPr/>
          <p:nvPr/>
        </p:nvSpPr>
        <p:spPr>
          <a:xfrm>
            <a:off x="4617720" y="3200400"/>
            <a:ext cx="2956255" cy="13716"/>
          </a:xfrm>
          <a:prstGeom prst="rect">
            <a:avLst/>
          </a:prstGeom>
          <a:solidFill>
            <a:srgbClr val="334155"/>
          </a:solidFill>
          <a:ln/>
        </p:spPr>
      </p:sp>
      <p:sp>
        <p:nvSpPr>
          <p:cNvPr id="27" name="Shape 25"/>
          <p:cNvSpPr/>
          <p:nvPr/>
        </p:nvSpPr>
        <p:spPr>
          <a:xfrm>
            <a:off x="4617720" y="3383280"/>
            <a:ext cx="54864" cy="54864"/>
          </a:xfrm>
          <a:prstGeom prst="rect">
            <a:avLst/>
          </a:prstGeom>
          <a:solidFill>
            <a:srgbClr val="3B82F6"/>
          </a:solidFill>
          <a:ln/>
        </p:spPr>
      </p:sp>
      <p:sp>
        <p:nvSpPr>
          <p:cNvPr id="28" name="Text 26"/>
          <p:cNvSpPr/>
          <p:nvPr/>
        </p:nvSpPr>
        <p:spPr>
          <a:xfrm>
            <a:off x="4800600" y="333756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Kategori 1: Unit yang dikirim hari ini ke distributor Bandung.</a:t>
            </a:r>
            <a:endParaRPr lang="en-US" sz="1000" dirty="0"/>
          </a:p>
        </p:txBody>
      </p:sp>
      <p:sp>
        <p:nvSpPr>
          <p:cNvPr id="29" name="Shape 27"/>
          <p:cNvSpPr/>
          <p:nvPr/>
        </p:nvSpPr>
        <p:spPr>
          <a:xfrm>
            <a:off x="4617720" y="4251960"/>
            <a:ext cx="54864" cy="54864"/>
          </a:xfrm>
          <a:prstGeom prst="rect">
            <a:avLst/>
          </a:prstGeom>
          <a:solidFill>
            <a:srgbClr val="3B82F6"/>
          </a:solidFill>
          <a:ln/>
        </p:spPr>
      </p:sp>
      <p:sp>
        <p:nvSpPr>
          <p:cNvPr id="30" name="Text 28"/>
          <p:cNvSpPr/>
          <p:nvPr/>
        </p:nvSpPr>
        <p:spPr>
          <a:xfrm>
            <a:off x="4800600" y="420624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Kategori 2 &amp; 3: Rekap unit yang sedang diproses di vendor Bandung dan Jakarta.</a:t>
            </a:r>
            <a:endParaRPr lang="en-US" sz="1000" dirty="0"/>
          </a:p>
        </p:txBody>
      </p:sp>
      <p:sp>
        <p:nvSpPr>
          <p:cNvPr id="31" name="Shape 29"/>
          <p:cNvSpPr/>
          <p:nvPr/>
        </p:nvSpPr>
        <p:spPr>
          <a:xfrm>
            <a:off x="4617720" y="5120640"/>
            <a:ext cx="54864" cy="54864"/>
          </a:xfrm>
          <a:prstGeom prst="rect">
            <a:avLst/>
          </a:prstGeom>
          <a:solidFill>
            <a:srgbClr val="3B82F6"/>
          </a:solidFill>
          <a:ln/>
        </p:spPr>
      </p:sp>
      <p:sp>
        <p:nvSpPr>
          <p:cNvPr id="32" name="Text 30"/>
          <p:cNvSpPr/>
          <p:nvPr/>
        </p:nvSpPr>
        <p:spPr>
          <a:xfrm>
            <a:off x="4800600" y="507492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Kategori 4: Antrean garansi yang belum diproses/dikirim.</a:t>
            </a:r>
            <a:endParaRPr lang="en-US" sz="1000" dirty="0"/>
          </a:p>
        </p:txBody>
      </p:sp>
      <p:sp>
        <p:nvSpPr>
          <p:cNvPr id="33" name="Shape 31"/>
          <p:cNvSpPr/>
          <p:nvPr/>
        </p:nvSpPr>
        <p:spPr>
          <a:xfrm>
            <a:off x="4617720" y="5989320"/>
            <a:ext cx="54864" cy="54864"/>
          </a:xfrm>
          <a:prstGeom prst="rect">
            <a:avLst/>
          </a:prstGeom>
          <a:solidFill>
            <a:srgbClr val="3B82F6"/>
          </a:solidFill>
          <a:ln/>
        </p:spPr>
      </p:sp>
      <p:sp>
        <p:nvSpPr>
          <p:cNvPr id="34" name="Text 32"/>
          <p:cNvSpPr/>
          <p:nvPr/>
        </p:nvSpPr>
        <p:spPr>
          <a:xfrm>
            <a:off x="4800600" y="594360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Aturan Parser: Header nama vendor digrouping dan suffix wilayah BDG/JKT dibersihkan otomatis (contoh: PT. ASIA RAYA COM BDG -&gt; *PT. ASIA RAYA COM*).</a:t>
            </a:r>
            <a:endParaRPr lang="en-US" sz="1000" dirty="0"/>
          </a:p>
        </p:txBody>
      </p:sp>
      <p:sp>
        <p:nvSpPr>
          <p:cNvPr id="35" name="Shape 33"/>
          <p:cNvSpPr/>
          <p:nvPr/>
        </p:nvSpPr>
        <p:spPr>
          <a:xfrm>
            <a:off x="8046720" y="1920240"/>
            <a:ext cx="3413455" cy="4206240"/>
          </a:xfrm>
          <a:prstGeom prst="rect">
            <a:avLst>
              <a:gd name="adj" fmla="val 2143"/>
            </a:avLst>
          </a:prstGeom>
          <a:solidFill>
            <a:srgbClr val="1E293B"/>
          </a:solidFill>
          <a:ln w="12700">
            <a:solidFill>
              <a:srgbClr val="334155"/>
            </a:solidFill>
            <a:prstDash val="solid"/>
          </a:ln>
        </p:spPr>
      </p:sp>
      <p:sp>
        <p:nvSpPr>
          <p:cNvPr id="36" name="Shape 34"/>
          <p:cNvSpPr/>
          <p:nvPr/>
        </p:nvSpPr>
        <p:spPr>
          <a:xfrm>
            <a:off x="8046720" y="1920240"/>
            <a:ext cx="73152" cy="4206240"/>
          </a:xfrm>
          <a:prstGeom prst="rect">
            <a:avLst/>
          </a:prstGeom>
          <a:solidFill>
            <a:srgbClr val="10B981"/>
          </a:solidFill>
          <a:ln/>
        </p:spPr>
      </p:sp>
      <p:sp>
        <p:nvSpPr>
          <p:cNvPr id="37" name="Text 35"/>
          <p:cNvSpPr/>
          <p:nvPr/>
        </p:nvSpPr>
        <p:spPr>
          <a:xfrm>
            <a:off x="82753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Laporan Tim Sales</a:t>
            </a:r>
            <a:endParaRPr lang="en-US" sz="1400" dirty="0"/>
          </a:p>
        </p:txBody>
      </p:sp>
      <p:sp>
        <p:nvSpPr>
          <p:cNvPr id="38" name="Text 36"/>
          <p:cNvSpPr/>
          <p:nvPr/>
        </p:nvSpPr>
        <p:spPr>
          <a:xfrm>
            <a:off x="8275320" y="2450592"/>
            <a:ext cx="3001975" cy="228600"/>
          </a:xfrm>
          <a:prstGeom prst="rect">
            <a:avLst/>
          </a:prstGeom>
          <a:noFill/>
          <a:ln/>
        </p:spPr>
        <p:txBody>
          <a:bodyPr wrap="square" lIns="0" tIns="0" rIns="0" bIns="0" rtlCol="0" anchor="ctr"/>
          <a:lstStyle/>
          <a:p>
            <a:pPr indent="0" marL="0">
              <a:buNone/>
            </a:pPr>
            <a:r>
              <a:rPr lang="en-US" sz="950" b="1" dirty="0">
                <a:solidFill>
                  <a:srgbClr val="10B981"/>
                </a:solidFill>
                <a:latin typeface="Segoe UI" pitchFamily="34" charset="0"/>
                <a:ea typeface="Segoe UI" pitchFamily="34" charset="-122"/>
                <a:cs typeface="Segoe UI" pitchFamily="34" charset="-120"/>
              </a:rPr>
              <a:t>JALUR 3 • Filter Khusus Unit Toko</a:t>
            </a:r>
            <a:endParaRPr lang="en-US" sz="950" dirty="0"/>
          </a:p>
        </p:txBody>
      </p:sp>
      <p:sp>
        <p:nvSpPr>
          <p:cNvPr id="39" name="Text 37"/>
          <p:cNvSpPr/>
          <p:nvPr/>
        </p:nvSpPr>
        <p:spPr>
          <a:xfrm>
            <a:off x="8275320" y="2724912"/>
            <a:ext cx="2956255" cy="411480"/>
          </a:xfrm>
          <a:prstGeom prst="rect">
            <a:avLst/>
          </a:prstGeom>
          <a:noFill/>
          <a:ln/>
        </p:spPr>
        <p:txBody>
          <a:bodyPr wrap="square" lIns="0" tIns="0" rIns="0" bIns="0" rtlCol="0" anchor="ctr"/>
          <a:lstStyle/>
          <a:p>
            <a:pPr indent="0" marL="0">
              <a:buNone/>
            </a:pPr>
            <a:r>
              <a:rPr lang="en-US" sz="1000" dirty="0">
                <a:solidFill>
                  <a:srgbClr val="FFFFFF"/>
                </a:solidFill>
                <a:latin typeface="Segoe UI" pitchFamily="34" charset="0"/>
                <a:ea typeface="Segoe UI" pitchFamily="34" charset="-122"/>
                <a:cs typeface="Segoe UI" pitchFamily="34" charset="-120"/>
              </a:rPr>
              <a:t>Dikirim khusus ke nomor WhatsApp Sales (0821-2008-1484).</a:t>
            </a:r>
            <a:endParaRPr lang="en-US" sz="1000" dirty="0"/>
          </a:p>
        </p:txBody>
      </p:sp>
      <p:sp>
        <p:nvSpPr>
          <p:cNvPr id="40" name="Shape 38"/>
          <p:cNvSpPr/>
          <p:nvPr/>
        </p:nvSpPr>
        <p:spPr>
          <a:xfrm>
            <a:off x="8275320" y="3200400"/>
            <a:ext cx="2956255" cy="13716"/>
          </a:xfrm>
          <a:prstGeom prst="rect">
            <a:avLst/>
          </a:prstGeom>
          <a:solidFill>
            <a:srgbClr val="334155"/>
          </a:solidFill>
          <a:ln/>
        </p:spPr>
      </p:sp>
      <p:sp>
        <p:nvSpPr>
          <p:cNvPr id="41" name="Shape 39"/>
          <p:cNvSpPr/>
          <p:nvPr/>
        </p:nvSpPr>
        <p:spPr>
          <a:xfrm>
            <a:off x="8275320" y="3383280"/>
            <a:ext cx="54864" cy="54864"/>
          </a:xfrm>
          <a:prstGeom prst="rect">
            <a:avLst/>
          </a:prstGeom>
          <a:solidFill>
            <a:srgbClr val="10B981"/>
          </a:solidFill>
          <a:ln/>
        </p:spPr>
      </p:sp>
      <p:sp>
        <p:nvSpPr>
          <p:cNvPr id="42" name="Text 40"/>
          <p:cNvSpPr/>
          <p:nvPr/>
        </p:nvSpPr>
        <p:spPr>
          <a:xfrm>
            <a:off x="8458200" y="333756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Filter Mandatori: Khusus data dengan nama customer STOCK BCT atau GHITP.</a:t>
            </a:r>
            <a:endParaRPr lang="en-US" sz="1000" dirty="0"/>
          </a:p>
        </p:txBody>
      </p:sp>
      <p:sp>
        <p:nvSpPr>
          <p:cNvPr id="43" name="Shape 41"/>
          <p:cNvSpPr/>
          <p:nvPr/>
        </p:nvSpPr>
        <p:spPr>
          <a:xfrm>
            <a:off x="8275320" y="4251960"/>
            <a:ext cx="54864" cy="54864"/>
          </a:xfrm>
          <a:prstGeom prst="rect">
            <a:avLst/>
          </a:prstGeom>
          <a:solidFill>
            <a:srgbClr val="10B981"/>
          </a:solidFill>
          <a:ln/>
        </p:spPr>
      </p:sp>
      <p:sp>
        <p:nvSpPr>
          <p:cNvPr id="44" name="Text 42"/>
          <p:cNvSpPr/>
          <p:nvPr/>
        </p:nvSpPr>
        <p:spPr>
          <a:xfrm>
            <a:off x="8458200" y="420624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Informasi Pergantian Unit: Menampilkan unit garansi selesai dengan komparasi SN Lama dan SN Baru pengganti.</a:t>
            </a:r>
            <a:endParaRPr lang="en-US" sz="1000" dirty="0"/>
          </a:p>
        </p:txBody>
      </p:sp>
      <p:sp>
        <p:nvSpPr>
          <p:cNvPr id="45" name="Shape 43"/>
          <p:cNvSpPr/>
          <p:nvPr/>
        </p:nvSpPr>
        <p:spPr>
          <a:xfrm>
            <a:off x="8275320" y="5120640"/>
            <a:ext cx="54864" cy="54864"/>
          </a:xfrm>
          <a:prstGeom prst="rect">
            <a:avLst/>
          </a:prstGeom>
          <a:solidFill>
            <a:srgbClr val="10B981"/>
          </a:solidFill>
          <a:ln/>
        </p:spPr>
      </p:sp>
      <p:sp>
        <p:nvSpPr>
          <p:cNvPr id="46" name="Text 44"/>
          <p:cNvSpPr/>
          <p:nvPr/>
        </p:nvSpPr>
        <p:spPr>
          <a:xfrm>
            <a:off x="8458200" y="507492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Monitoring Barang Toko: Sales langsung mengetahui unit inventaris mana saja yang masih tertahan di vendor Bandung/Jakarta.</a:t>
            </a:r>
            <a:endParaRPr lang="en-US" sz="1000" dirty="0"/>
          </a:p>
        </p:txBody>
      </p:sp>
      <p:sp>
        <p:nvSpPr>
          <p:cNvPr id="47" name="Shape 45"/>
          <p:cNvSpPr/>
          <p:nvPr/>
        </p:nvSpPr>
        <p:spPr>
          <a:xfrm>
            <a:off x="8275320" y="5989320"/>
            <a:ext cx="54864" cy="54864"/>
          </a:xfrm>
          <a:prstGeom prst="rect">
            <a:avLst/>
          </a:prstGeom>
          <a:solidFill>
            <a:srgbClr val="10B981"/>
          </a:solidFill>
          <a:ln/>
        </p:spPr>
      </p:sp>
      <p:sp>
        <p:nvSpPr>
          <p:cNvPr id="48" name="Text 46"/>
          <p:cNvSpPr/>
          <p:nvPr/>
        </p:nvSpPr>
        <p:spPr>
          <a:xfrm>
            <a:off x="8458200" y="5943600"/>
            <a:ext cx="2773375" cy="77724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Mempercepat rotasi produk siap display dan penjualan kembali.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07 / LANDASAN TEKNOLOGI</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Arsitektur Teknis: Ringan, Cepat, dan Skalabel</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Kombinasi teknologi modern untuk performa tinggi di lingkungan kerja bengkel servis</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8 / 10</a:t>
            </a:r>
            <a:endParaRPr lang="en-US" sz="900" dirty="0"/>
          </a:p>
        </p:txBody>
      </p:sp>
      <p:sp>
        <p:nvSpPr>
          <p:cNvPr id="9" name="Shape 7"/>
          <p:cNvSpPr/>
          <p:nvPr/>
        </p:nvSpPr>
        <p:spPr>
          <a:xfrm>
            <a:off x="731520" y="1920240"/>
            <a:ext cx="5242255" cy="1920240"/>
          </a:xfrm>
          <a:prstGeom prst="rect">
            <a:avLst>
              <a:gd name="adj" fmla="val 3810"/>
            </a:avLst>
          </a:prstGeom>
          <a:solidFill>
            <a:srgbClr val="1E293B"/>
          </a:solidFill>
          <a:ln w="12700">
            <a:solidFill>
              <a:srgbClr val="334155"/>
            </a:solidFill>
            <a:prstDash val="solid"/>
          </a:ln>
        </p:spPr>
      </p:sp>
      <p:sp>
        <p:nvSpPr>
          <p:cNvPr id="10" name="Shape 8"/>
          <p:cNvSpPr/>
          <p:nvPr/>
        </p:nvSpPr>
        <p:spPr>
          <a:xfrm>
            <a:off x="731520" y="1920240"/>
            <a:ext cx="73152" cy="1920240"/>
          </a:xfrm>
          <a:prstGeom prst="rect">
            <a:avLst/>
          </a:prstGeom>
          <a:solidFill>
            <a:srgbClr val="F97316"/>
          </a:solidFill>
          <a:ln/>
        </p:spPr>
      </p:sp>
      <p:sp>
        <p:nvSpPr>
          <p:cNvPr id="11" name="Text 9"/>
          <p:cNvSpPr/>
          <p:nvPr/>
        </p:nvSpPr>
        <p:spPr>
          <a:xfrm>
            <a:off x="9601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Frontend &amp; App Framework</a:t>
            </a:r>
            <a:endParaRPr lang="en-US" sz="1400" dirty="0"/>
          </a:p>
        </p:txBody>
      </p:sp>
      <p:sp>
        <p:nvSpPr>
          <p:cNvPr id="12" name="Text 10"/>
          <p:cNvSpPr/>
          <p:nvPr/>
        </p:nvSpPr>
        <p:spPr>
          <a:xfrm>
            <a:off x="960120" y="2450592"/>
            <a:ext cx="4754880" cy="228600"/>
          </a:xfrm>
          <a:prstGeom prst="rect">
            <a:avLst/>
          </a:prstGeom>
          <a:noFill/>
          <a:ln/>
        </p:spPr>
        <p:txBody>
          <a:bodyPr wrap="square" lIns="0" tIns="0" rIns="0" bIns="0" rtlCol="0" anchor="ctr"/>
          <a:lstStyle/>
          <a:p>
            <a:pPr indent="0" marL="0">
              <a:buNone/>
            </a:pPr>
            <a:r>
              <a:rPr lang="en-US" sz="1000" b="1" dirty="0">
                <a:solidFill>
                  <a:srgbClr val="F97316"/>
                </a:solidFill>
                <a:latin typeface="Segoe UI" pitchFamily="34" charset="0"/>
                <a:ea typeface="Segoe UI" pitchFamily="34" charset="-122"/>
                <a:cs typeface="Segoe UI" pitchFamily="34" charset="-120"/>
              </a:rPr>
              <a:t>Next.js 16 (App Router) &amp; React 19</a:t>
            </a:r>
            <a:endParaRPr lang="en-US" sz="1000" dirty="0"/>
          </a:p>
        </p:txBody>
      </p:sp>
      <p:sp>
        <p:nvSpPr>
          <p:cNvPr id="13" name="Text 11"/>
          <p:cNvSpPr/>
          <p:nvPr/>
        </p:nvSpPr>
        <p:spPr>
          <a:xfrm>
            <a:off x="960120" y="274320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Mendukung server-rendered page untuk inisialisasi cepat dan transisi halaman tanpa reload. TypeScript menjamin keketatan tipe data di seluruh komponen form, routing, dan validasi schema.</a:t>
            </a:r>
            <a:endParaRPr lang="en-US" sz="1100" dirty="0"/>
          </a:p>
        </p:txBody>
      </p:sp>
      <p:sp>
        <p:nvSpPr>
          <p:cNvPr id="14" name="Shape 12"/>
          <p:cNvSpPr/>
          <p:nvPr/>
        </p:nvSpPr>
        <p:spPr>
          <a:xfrm>
            <a:off x="6217920" y="1920240"/>
            <a:ext cx="5242255" cy="1920240"/>
          </a:xfrm>
          <a:prstGeom prst="rect">
            <a:avLst>
              <a:gd name="adj" fmla="val 3810"/>
            </a:avLst>
          </a:prstGeom>
          <a:solidFill>
            <a:srgbClr val="1E293B"/>
          </a:solidFill>
          <a:ln w="12700">
            <a:solidFill>
              <a:srgbClr val="334155"/>
            </a:solidFill>
            <a:prstDash val="solid"/>
          </a:ln>
        </p:spPr>
      </p:sp>
      <p:sp>
        <p:nvSpPr>
          <p:cNvPr id="15" name="Shape 13"/>
          <p:cNvSpPr/>
          <p:nvPr/>
        </p:nvSpPr>
        <p:spPr>
          <a:xfrm>
            <a:off x="6217920" y="1920240"/>
            <a:ext cx="73152" cy="1920240"/>
          </a:xfrm>
          <a:prstGeom prst="rect">
            <a:avLst/>
          </a:prstGeom>
          <a:solidFill>
            <a:srgbClr val="3B82F6"/>
          </a:solidFill>
          <a:ln/>
        </p:spPr>
      </p:sp>
      <p:sp>
        <p:nvSpPr>
          <p:cNvPr id="16" name="Text 14"/>
          <p:cNvSpPr/>
          <p:nvPr/>
        </p:nvSpPr>
        <p:spPr>
          <a:xfrm>
            <a:off x="6446520" y="210312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Design System &amp; Cetak Dokumen</a:t>
            </a:r>
            <a:endParaRPr lang="en-US" sz="1400" dirty="0"/>
          </a:p>
        </p:txBody>
      </p:sp>
      <p:sp>
        <p:nvSpPr>
          <p:cNvPr id="17" name="Text 15"/>
          <p:cNvSpPr/>
          <p:nvPr/>
        </p:nvSpPr>
        <p:spPr>
          <a:xfrm>
            <a:off x="6446520" y="2450592"/>
            <a:ext cx="4754880" cy="228600"/>
          </a:xfrm>
          <a:prstGeom prst="rect">
            <a:avLst/>
          </a:prstGeom>
          <a:noFill/>
          <a:ln/>
        </p:spPr>
        <p:txBody>
          <a:bodyPr wrap="square" lIns="0" tIns="0" rIns="0" bIns="0" rtlCol="0" anchor="ctr"/>
          <a:lstStyle/>
          <a:p>
            <a:pPr indent="0" marL="0">
              <a:buNone/>
            </a:pPr>
            <a:r>
              <a:rPr lang="en-US" sz="1000" b="1" dirty="0">
                <a:solidFill>
                  <a:srgbClr val="3B82F6"/>
                </a:solidFill>
                <a:latin typeface="Segoe UI" pitchFamily="34" charset="0"/>
                <a:ea typeface="Segoe UI" pitchFamily="34" charset="-122"/>
                <a:cs typeface="Segoe UI" pitchFamily="34" charset="-120"/>
              </a:rPr>
              <a:t>Tailwind CSS v4 &amp; Print Media Rules</a:t>
            </a:r>
            <a:endParaRPr lang="en-US" sz="1000" dirty="0"/>
          </a:p>
        </p:txBody>
      </p:sp>
      <p:sp>
        <p:nvSpPr>
          <p:cNvPr id="18" name="Text 16"/>
          <p:cNvSpPr/>
          <p:nvPr/>
        </p:nvSpPr>
        <p:spPr>
          <a:xfrm>
            <a:off x="6446520" y="274320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Palet warna industri modern Slate &amp; Orange yang nyaman dipandang. Dilengkapi CSS media print khusus untuk memastikan cetakan tanda terima 80mm dan Surat Jalan A4 presisi tanpa elemen navigasi browser.</a:t>
            </a:r>
            <a:endParaRPr lang="en-US" sz="1100" dirty="0"/>
          </a:p>
        </p:txBody>
      </p:sp>
      <p:sp>
        <p:nvSpPr>
          <p:cNvPr id="19" name="Shape 17"/>
          <p:cNvSpPr/>
          <p:nvPr/>
        </p:nvSpPr>
        <p:spPr>
          <a:xfrm>
            <a:off x="731520" y="4023360"/>
            <a:ext cx="5242255" cy="1920240"/>
          </a:xfrm>
          <a:prstGeom prst="rect">
            <a:avLst>
              <a:gd name="adj" fmla="val 3810"/>
            </a:avLst>
          </a:prstGeom>
          <a:solidFill>
            <a:srgbClr val="1E293B"/>
          </a:solidFill>
          <a:ln w="12700">
            <a:solidFill>
              <a:srgbClr val="334155"/>
            </a:solidFill>
            <a:prstDash val="solid"/>
          </a:ln>
        </p:spPr>
      </p:sp>
      <p:sp>
        <p:nvSpPr>
          <p:cNvPr id="20" name="Shape 18"/>
          <p:cNvSpPr/>
          <p:nvPr/>
        </p:nvSpPr>
        <p:spPr>
          <a:xfrm>
            <a:off x="731520" y="4023360"/>
            <a:ext cx="73152" cy="1920240"/>
          </a:xfrm>
          <a:prstGeom prst="rect">
            <a:avLst/>
          </a:prstGeom>
          <a:solidFill>
            <a:srgbClr val="10B981"/>
          </a:solidFill>
          <a:ln/>
        </p:spPr>
      </p:sp>
      <p:sp>
        <p:nvSpPr>
          <p:cNvPr id="21" name="Text 19"/>
          <p:cNvSpPr/>
          <p:nvPr/>
        </p:nvSpPr>
        <p:spPr>
          <a:xfrm>
            <a:off x="960120" y="420624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Database &amp; Integritas Relasi</a:t>
            </a:r>
            <a:endParaRPr lang="en-US" sz="1400" dirty="0"/>
          </a:p>
        </p:txBody>
      </p:sp>
      <p:sp>
        <p:nvSpPr>
          <p:cNvPr id="22" name="Text 20"/>
          <p:cNvSpPr/>
          <p:nvPr/>
        </p:nvSpPr>
        <p:spPr>
          <a:xfrm>
            <a:off x="960120" y="4553712"/>
            <a:ext cx="4754880" cy="228600"/>
          </a:xfrm>
          <a:prstGeom prst="rect">
            <a:avLst/>
          </a:prstGeom>
          <a:noFill/>
          <a:ln/>
        </p:spPr>
        <p:txBody>
          <a:bodyPr wrap="square" lIns="0" tIns="0" rIns="0" bIns="0" rtlCol="0" anchor="ctr"/>
          <a:lstStyle/>
          <a:p>
            <a:pPr indent="0" marL="0">
              <a:buNone/>
            </a:pPr>
            <a:r>
              <a:rPr lang="en-US" sz="1000" b="1" dirty="0">
                <a:solidFill>
                  <a:srgbClr val="10B981"/>
                </a:solidFill>
                <a:latin typeface="Segoe UI" pitchFamily="34" charset="0"/>
                <a:ea typeface="Segoe UI" pitchFamily="34" charset="-122"/>
                <a:cs typeface="Segoe UI" pitchFamily="34" charset="-120"/>
              </a:rPr>
              <a:t>PostgreSQL / SQLite &amp; Relational Schema</a:t>
            </a:r>
            <a:endParaRPr lang="en-US" sz="1000" dirty="0"/>
          </a:p>
        </p:txBody>
      </p:sp>
      <p:sp>
        <p:nvSpPr>
          <p:cNvPr id="23" name="Text 21"/>
          <p:cNvSpPr/>
          <p:nvPr/>
        </p:nvSpPr>
        <p:spPr>
          <a:xfrm>
            <a:off x="960120" y="484632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Skema relasional kokoh dengan tabel utama: tickets, surat_jalan, master_vendors, master_keluhan, dan audit_logs. Didukung cascading relation dan index untuk pencarian instan nomor RMA dan serial number.</a:t>
            </a:r>
            <a:endParaRPr lang="en-US" sz="1100" dirty="0"/>
          </a:p>
        </p:txBody>
      </p:sp>
      <p:sp>
        <p:nvSpPr>
          <p:cNvPr id="24" name="Shape 22"/>
          <p:cNvSpPr/>
          <p:nvPr/>
        </p:nvSpPr>
        <p:spPr>
          <a:xfrm>
            <a:off x="6217920" y="4023360"/>
            <a:ext cx="5242255" cy="1920240"/>
          </a:xfrm>
          <a:prstGeom prst="rect">
            <a:avLst>
              <a:gd name="adj" fmla="val 3810"/>
            </a:avLst>
          </a:prstGeom>
          <a:solidFill>
            <a:srgbClr val="1E293B"/>
          </a:solidFill>
          <a:ln w="12700">
            <a:solidFill>
              <a:srgbClr val="334155"/>
            </a:solidFill>
            <a:prstDash val="solid"/>
          </a:ln>
        </p:spPr>
      </p:sp>
      <p:sp>
        <p:nvSpPr>
          <p:cNvPr id="25" name="Shape 23"/>
          <p:cNvSpPr/>
          <p:nvPr/>
        </p:nvSpPr>
        <p:spPr>
          <a:xfrm>
            <a:off x="6217920" y="4023360"/>
            <a:ext cx="73152" cy="1920240"/>
          </a:xfrm>
          <a:prstGeom prst="rect">
            <a:avLst/>
          </a:prstGeom>
          <a:solidFill>
            <a:srgbClr val="EAB308"/>
          </a:solidFill>
          <a:ln/>
        </p:spPr>
      </p:sp>
      <p:sp>
        <p:nvSpPr>
          <p:cNvPr id="26" name="Text 24"/>
          <p:cNvSpPr/>
          <p:nvPr/>
        </p:nvSpPr>
        <p:spPr>
          <a:xfrm>
            <a:off x="6446520" y="4206240"/>
            <a:ext cx="48307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Integrasi Utilitas &amp; Ekspor</a:t>
            </a:r>
            <a:endParaRPr lang="en-US" sz="1400" dirty="0"/>
          </a:p>
        </p:txBody>
      </p:sp>
      <p:sp>
        <p:nvSpPr>
          <p:cNvPr id="27" name="Text 25"/>
          <p:cNvSpPr/>
          <p:nvPr/>
        </p:nvSpPr>
        <p:spPr>
          <a:xfrm>
            <a:off x="6446520" y="4553712"/>
            <a:ext cx="4754880" cy="228600"/>
          </a:xfrm>
          <a:prstGeom prst="rect">
            <a:avLst/>
          </a:prstGeom>
          <a:noFill/>
          <a:ln/>
        </p:spPr>
        <p:txBody>
          <a:bodyPr wrap="square" lIns="0" tIns="0" rIns="0" bIns="0" rtlCol="0" anchor="ctr"/>
          <a:lstStyle/>
          <a:p>
            <a:pPr indent="0" marL="0">
              <a:buNone/>
            </a:pPr>
            <a:r>
              <a:rPr lang="en-US" sz="1000" b="1" dirty="0">
                <a:solidFill>
                  <a:srgbClr val="EAB308"/>
                </a:solidFill>
                <a:latin typeface="Segoe UI" pitchFamily="34" charset="0"/>
                <a:ea typeface="Segoe UI" pitchFamily="34" charset="-122"/>
                <a:cs typeface="Segoe UI" pitchFamily="34" charset="-120"/>
              </a:rPr>
              <a:t>SheetJS / XLSX &amp; WA URL Formatter</a:t>
            </a:r>
            <a:endParaRPr lang="en-US" sz="1000" dirty="0"/>
          </a:p>
        </p:txBody>
      </p:sp>
      <p:sp>
        <p:nvSpPr>
          <p:cNvPr id="28" name="Text 26"/>
          <p:cNvSpPr/>
          <p:nvPr/>
        </p:nvSpPr>
        <p:spPr>
          <a:xfrm>
            <a:off x="6446520" y="4846320"/>
            <a:ext cx="4754880" cy="91440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Fitur ekspor data antrean ke format Excel tabular untuk pembukuan akuntansi toko. Generator pesan WhatsApp mandiri yang menyusun teks terstruktur dengan pemformatan tebal dan tata letak rapi.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08 / KEAMANAN &amp; TATA KELOLA</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Akuntabilitas Data: Audit Trail &amp; 5-Device Node-Lock</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Mekanisme proteksi internal untuk memastikan setiap mutasi data tercatat dan akses terkendali</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9 / 10</a:t>
            </a:r>
            <a:endParaRPr lang="en-US" sz="900" dirty="0"/>
          </a:p>
        </p:txBody>
      </p:sp>
      <p:sp>
        <p:nvSpPr>
          <p:cNvPr id="9" name="Shape 7"/>
          <p:cNvSpPr/>
          <p:nvPr/>
        </p:nvSpPr>
        <p:spPr>
          <a:xfrm>
            <a:off x="731520" y="1920240"/>
            <a:ext cx="3413455" cy="4206240"/>
          </a:xfrm>
          <a:prstGeom prst="rect">
            <a:avLst>
              <a:gd name="adj" fmla="val 2143"/>
            </a:avLst>
          </a:prstGeom>
          <a:solidFill>
            <a:srgbClr val="1E293B"/>
          </a:solidFill>
          <a:ln w="12700">
            <a:solidFill>
              <a:srgbClr val="334155"/>
            </a:solidFill>
            <a:prstDash val="solid"/>
          </a:ln>
        </p:spPr>
      </p:sp>
      <p:sp>
        <p:nvSpPr>
          <p:cNvPr id="10" name="Shape 8"/>
          <p:cNvSpPr/>
          <p:nvPr/>
        </p:nvSpPr>
        <p:spPr>
          <a:xfrm>
            <a:off x="731520" y="1920240"/>
            <a:ext cx="73152" cy="4206240"/>
          </a:xfrm>
          <a:prstGeom prst="rect">
            <a:avLst/>
          </a:prstGeom>
          <a:solidFill>
            <a:srgbClr val="F97316"/>
          </a:solidFill>
          <a:ln/>
        </p:spPr>
      </p:sp>
      <p:sp>
        <p:nvSpPr>
          <p:cNvPr id="11" name="Text 9"/>
          <p:cNvSpPr/>
          <p:nvPr/>
        </p:nvSpPr>
        <p:spPr>
          <a:xfrm>
            <a:off x="9601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Immutable Audit Trail</a:t>
            </a:r>
            <a:endParaRPr lang="en-US" sz="1400" dirty="0"/>
          </a:p>
        </p:txBody>
      </p:sp>
      <p:sp>
        <p:nvSpPr>
          <p:cNvPr id="12" name="Text 10"/>
          <p:cNvSpPr/>
          <p:nvPr/>
        </p:nvSpPr>
        <p:spPr>
          <a:xfrm>
            <a:off x="960120" y="2450592"/>
            <a:ext cx="3001975" cy="228600"/>
          </a:xfrm>
          <a:prstGeom prst="rect">
            <a:avLst/>
          </a:prstGeom>
          <a:noFill/>
          <a:ln/>
        </p:spPr>
        <p:txBody>
          <a:bodyPr wrap="square" lIns="0" tIns="0" rIns="0" bIns="0" rtlCol="0" anchor="ctr"/>
          <a:lstStyle/>
          <a:p>
            <a:pPr indent="0" marL="0">
              <a:buNone/>
            </a:pPr>
            <a:r>
              <a:rPr lang="en-US" sz="950" b="1" dirty="0">
                <a:solidFill>
                  <a:srgbClr val="F97316"/>
                </a:solidFill>
                <a:latin typeface="Segoe UI" pitchFamily="34" charset="0"/>
                <a:ea typeface="Segoe UI" pitchFamily="34" charset="-122"/>
                <a:cs typeface="Segoe UI" pitchFamily="34" charset="-120"/>
              </a:rPr>
              <a:t>Pencatatan Setiap Perubahan Data</a:t>
            </a:r>
            <a:endParaRPr lang="en-US" sz="950" dirty="0"/>
          </a:p>
        </p:txBody>
      </p:sp>
      <p:sp>
        <p:nvSpPr>
          <p:cNvPr id="13" name="Shape 11"/>
          <p:cNvSpPr/>
          <p:nvPr/>
        </p:nvSpPr>
        <p:spPr>
          <a:xfrm>
            <a:off x="960120" y="2743200"/>
            <a:ext cx="2956255" cy="13716"/>
          </a:xfrm>
          <a:prstGeom prst="rect">
            <a:avLst/>
          </a:prstGeom>
          <a:solidFill>
            <a:srgbClr val="334155"/>
          </a:solidFill>
          <a:ln/>
        </p:spPr>
      </p:sp>
      <p:sp>
        <p:nvSpPr>
          <p:cNvPr id="14" name="Text 12"/>
          <p:cNvSpPr/>
          <p:nvPr/>
        </p:nvSpPr>
        <p:spPr>
          <a:xfrm>
            <a:off x="960120" y="2971800"/>
            <a:ext cx="2956255" cy="292608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Setiap aksi perubahan status pengerjaan atau pengeditan data tiket otomatis tersimpan ke tabel audit_logs. Mencatat identitas teknisi pelaksana (actor), jenis aksi, waktu milidetik, serta perbandingan JSON payload data sebelum dan sesudah perubahan.</a:t>
            </a:r>
            <a:endParaRPr lang="en-US" sz="1100" dirty="0"/>
          </a:p>
        </p:txBody>
      </p:sp>
      <p:sp>
        <p:nvSpPr>
          <p:cNvPr id="15" name="Shape 13"/>
          <p:cNvSpPr/>
          <p:nvPr/>
        </p:nvSpPr>
        <p:spPr>
          <a:xfrm>
            <a:off x="4389120" y="1920240"/>
            <a:ext cx="3413455" cy="4206240"/>
          </a:xfrm>
          <a:prstGeom prst="rect">
            <a:avLst>
              <a:gd name="adj" fmla="val 2143"/>
            </a:avLst>
          </a:prstGeom>
          <a:solidFill>
            <a:srgbClr val="1E293B"/>
          </a:solidFill>
          <a:ln w="12700">
            <a:solidFill>
              <a:srgbClr val="334155"/>
            </a:solidFill>
            <a:prstDash val="solid"/>
          </a:ln>
        </p:spPr>
      </p:sp>
      <p:sp>
        <p:nvSpPr>
          <p:cNvPr id="16" name="Shape 14"/>
          <p:cNvSpPr/>
          <p:nvPr/>
        </p:nvSpPr>
        <p:spPr>
          <a:xfrm>
            <a:off x="4389120" y="1920240"/>
            <a:ext cx="73152" cy="4206240"/>
          </a:xfrm>
          <a:prstGeom prst="rect">
            <a:avLst/>
          </a:prstGeom>
          <a:solidFill>
            <a:srgbClr val="3B82F6"/>
          </a:solidFill>
          <a:ln/>
        </p:spPr>
      </p:sp>
      <p:sp>
        <p:nvSpPr>
          <p:cNvPr id="17" name="Text 15"/>
          <p:cNvSpPr/>
          <p:nvPr/>
        </p:nvSpPr>
        <p:spPr>
          <a:xfrm>
            <a:off x="46177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5-Device Node-Lock Licensing</a:t>
            </a:r>
            <a:endParaRPr lang="en-US" sz="1400" dirty="0"/>
          </a:p>
        </p:txBody>
      </p:sp>
      <p:sp>
        <p:nvSpPr>
          <p:cNvPr id="18" name="Text 16"/>
          <p:cNvSpPr/>
          <p:nvPr/>
        </p:nvSpPr>
        <p:spPr>
          <a:xfrm>
            <a:off x="4617720" y="2450592"/>
            <a:ext cx="3001975" cy="228600"/>
          </a:xfrm>
          <a:prstGeom prst="rect">
            <a:avLst/>
          </a:prstGeom>
          <a:noFill/>
          <a:ln/>
        </p:spPr>
        <p:txBody>
          <a:bodyPr wrap="square" lIns="0" tIns="0" rIns="0" bIns="0" rtlCol="0" anchor="ctr"/>
          <a:lstStyle/>
          <a:p>
            <a:pPr indent="0" marL="0">
              <a:buNone/>
            </a:pPr>
            <a:r>
              <a:rPr lang="en-US" sz="950" b="1" dirty="0">
                <a:solidFill>
                  <a:srgbClr val="3B82F6"/>
                </a:solidFill>
                <a:latin typeface="Segoe UI" pitchFamily="34" charset="0"/>
                <a:ea typeface="Segoe UI" pitchFamily="34" charset="-122"/>
                <a:cs typeface="Segoe UI" pitchFamily="34" charset="-120"/>
              </a:rPr>
              <a:t>Pembatasan Akses Khusus Bengkel</a:t>
            </a:r>
            <a:endParaRPr lang="en-US" sz="950" dirty="0"/>
          </a:p>
        </p:txBody>
      </p:sp>
      <p:sp>
        <p:nvSpPr>
          <p:cNvPr id="19" name="Shape 17"/>
          <p:cNvSpPr/>
          <p:nvPr/>
        </p:nvSpPr>
        <p:spPr>
          <a:xfrm>
            <a:off x="4617720" y="2743200"/>
            <a:ext cx="2956255" cy="13716"/>
          </a:xfrm>
          <a:prstGeom prst="rect">
            <a:avLst/>
          </a:prstGeom>
          <a:solidFill>
            <a:srgbClr val="334155"/>
          </a:solidFill>
          <a:ln/>
        </p:spPr>
      </p:sp>
      <p:sp>
        <p:nvSpPr>
          <p:cNvPr id="20" name="Text 18"/>
          <p:cNvSpPr/>
          <p:nvPr/>
        </p:nvSpPr>
        <p:spPr>
          <a:xfrm>
            <a:off x="4617720" y="2971800"/>
            <a:ext cx="2956255" cy="292608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Sistem dibatasi hanya dapat diakses oleh maksimal 5 perangkat fisik yang terdaftar (PC Kasir, Meja Teknisi 1-3, dan Komputer Owner). Verifikasi menggunakan hardware identifier token lokal untuk mencegah sistem diakses dari jaringan atau perangkat liar di luar toko.</a:t>
            </a:r>
            <a:endParaRPr lang="en-US" sz="1100" dirty="0"/>
          </a:p>
        </p:txBody>
      </p:sp>
      <p:sp>
        <p:nvSpPr>
          <p:cNvPr id="21" name="Shape 19"/>
          <p:cNvSpPr/>
          <p:nvPr/>
        </p:nvSpPr>
        <p:spPr>
          <a:xfrm>
            <a:off x="8046720" y="1920240"/>
            <a:ext cx="3413455" cy="4206240"/>
          </a:xfrm>
          <a:prstGeom prst="rect">
            <a:avLst>
              <a:gd name="adj" fmla="val 2143"/>
            </a:avLst>
          </a:prstGeom>
          <a:solidFill>
            <a:srgbClr val="1E293B"/>
          </a:solidFill>
          <a:ln w="12700">
            <a:solidFill>
              <a:srgbClr val="334155"/>
            </a:solidFill>
            <a:prstDash val="solid"/>
          </a:ln>
        </p:spPr>
      </p:sp>
      <p:sp>
        <p:nvSpPr>
          <p:cNvPr id="22" name="Shape 20"/>
          <p:cNvSpPr/>
          <p:nvPr/>
        </p:nvSpPr>
        <p:spPr>
          <a:xfrm>
            <a:off x="8046720" y="1920240"/>
            <a:ext cx="73152" cy="4206240"/>
          </a:xfrm>
          <a:prstGeom prst="rect">
            <a:avLst/>
          </a:prstGeom>
          <a:solidFill>
            <a:srgbClr val="10B981"/>
          </a:solidFill>
          <a:ln/>
        </p:spPr>
      </p:sp>
      <p:sp>
        <p:nvSpPr>
          <p:cNvPr id="23" name="Text 21"/>
          <p:cNvSpPr/>
          <p:nvPr/>
        </p:nvSpPr>
        <p:spPr>
          <a:xfrm>
            <a:off x="8275320" y="2103120"/>
            <a:ext cx="30019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Safeguards Pencegahan Human Error</a:t>
            </a:r>
            <a:endParaRPr lang="en-US" sz="1400" dirty="0"/>
          </a:p>
        </p:txBody>
      </p:sp>
      <p:sp>
        <p:nvSpPr>
          <p:cNvPr id="24" name="Text 22"/>
          <p:cNvSpPr/>
          <p:nvPr/>
        </p:nvSpPr>
        <p:spPr>
          <a:xfrm>
            <a:off x="8275320" y="2450592"/>
            <a:ext cx="3001975" cy="228600"/>
          </a:xfrm>
          <a:prstGeom prst="rect">
            <a:avLst/>
          </a:prstGeom>
          <a:noFill/>
          <a:ln/>
        </p:spPr>
        <p:txBody>
          <a:bodyPr wrap="square" lIns="0" tIns="0" rIns="0" bIns="0" rtlCol="0" anchor="ctr"/>
          <a:lstStyle/>
          <a:p>
            <a:pPr indent="0" marL="0">
              <a:buNone/>
            </a:pPr>
            <a:r>
              <a:rPr lang="en-US" sz="950" b="1" dirty="0">
                <a:solidFill>
                  <a:srgbClr val="10B981"/>
                </a:solidFill>
                <a:latin typeface="Segoe UI" pitchFamily="34" charset="0"/>
                <a:ea typeface="Segoe UI" pitchFamily="34" charset="-122"/>
                <a:cs typeface="Segoe UI" pitchFamily="34" charset="-120"/>
              </a:rPr>
              <a:t>Validasi Form &amp; Proteksi Aksi Kritis</a:t>
            </a:r>
            <a:endParaRPr lang="en-US" sz="950" dirty="0"/>
          </a:p>
        </p:txBody>
      </p:sp>
      <p:sp>
        <p:nvSpPr>
          <p:cNvPr id="25" name="Shape 23"/>
          <p:cNvSpPr/>
          <p:nvPr/>
        </p:nvSpPr>
        <p:spPr>
          <a:xfrm>
            <a:off x="8275320" y="2743200"/>
            <a:ext cx="2956255" cy="13716"/>
          </a:xfrm>
          <a:prstGeom prst="rect">
            <a:avLst/>
          </a:prstGeom>
          <a:solidFill>
            <a:srgbClr val="334155"/>
          </a:solidFill>
          <a:ln/>
        </p:spPr>
      </p:sp>
      <p:sp>
        <p:nvSpPr>
          <p:cNvPr id="26" name="Text 24"/>
          <p:cNvSpPr/>
          <p:nvPr/>
        </p:nvSpPr>
        <p:spPr>
          <a:xfrm>
            <a:off x="8275320" y="2971800"/>
            <a:ext cx="2956255" cy="292608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Sistem dilengkapi proteksi anti double-submit (tombol otomatis disabled dengan status spinner saat request berlangsung), konfirmasi modal untuk tindakan berbahaya (pembatalan/penghapusan tiket), serta auto-trim whitespace pada input nomor seri dan nomor telepon.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377440" cy="256032"/>
          </a:xfrm>
          <a:prstGeom prst="rect">
            <a:avLst>
              <a:gd name="adj" fmla="val 14286"/>
            </a:avLst>
          </a:prstGeom>
          <a:solidFill>
            <a:srgbClr val="1E293B"/>
          </a:solidFill>
          <a:ln w="12700">
            <a:solidFill>
              <a:srgbClr val="F97316"/>
            </a:solidFill>
            <a:prstDash val="solid"/>
          </a:ln>
        </p:spPr>
      </p:sp>
      <p:sp>
        <p:nvSpPr>
          <p:cNvPr id="3" name="Text 1"/>
          <p:cNvSpPr/>
          <p:nvPr/>
        </p:nvSpPr>
        <p:spPr>
          <a:xfrm>
            <a:off x="731520" y="475488"/>
            <a:ext cx="2377440" cy="219456"/>
          </a:xfrm>
          <a:prstGeom prst="rect">
            <a:avLst/>
          </a:prstGeom>
          <a:noFill/>
          <a:ln/>
        </p:spPr>
        <p:txBody>
          <a:bodyPr wrap="square" lIns="0" tIns="0" rIns="0" bIns="0" rtlCol="0" anchor="ctr"/>
          <a:lstStyle/>
          <a:p>
            <a:pPr algn="ctr" indent="0" marL="0">
              <a:buNone/>
            </a:pPr>
            <a:r>
              <a:rPr lang="en-US" sz="900" b="1" dirty="0">
                <a:solidFill>
                  <a:srgbClr val="F97316"/>
                </a:solidFill>
                <a:latin typeface="Segoe UI" pitchFamily="34" charset="0"/>
                <a:ea typeface="Segoe UI" pitchFamily="34" charset="-122"/>
                <a:cs typeface="Segoe UI" pitchFamily="34" charset="-120"/>
              </a:rPr>
              <a:t>09 / DAMPAK &amp; RENCANA</a:t>
            </a:r>
            <a:endParaRPr lang="en-US" sz="900" dirty="0"/>
          </a:p>
        </p:txBody>
      </p:sp>
      <p:sp>
        <p:nvSpPr>
          <p:cNvPr id="4" name="Text 2"/>
          <p:cNvSpPr/>
          <p:nvPr/>
        </p:nvSpPr>
        <p:spPr>
          <a:xfrm>
            <a:off x="731520" y="777240"/>
            <a:ext cx="10698480" cy="50292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Dampak Operasional Nyata &amp; Rencana Pengembangan</a:t>
            </a:r>
            <a:endParaRPr lang="en-US" sz="2200" dirty="0"/>
          </a:p>
        </p:txBody>
      </p:sp>
      <p:sp>
        <p:nvSpPr>
          <p:cNvPr id="5" name="Text 3"/>
          <p:cNvSpPr/>
          <p:nvPr/>
        </p:nvSpPr>
        <p:spPr>
          <a:xfrm>
            <a:off x="731520" y="1280160"/>
            <a:ext cx="10698480" cy="320040"/>
          </a:xfrm>
          <a:prstGeom prst="rect">
            <a:avLst/>
          </a:prstGeom>
          <a:noFill/>
          <a:ln/>
        </p:spPr>
        <p:txBody>
          <a:bodyPr wrap="square" lIns="0" tIns="0" rIns="0" bIns="0"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Evaluasi peningkatan efisiensi kerja di bengkel servis dan langkah penyempurnaan ke depan</a:t>
            </a:r>
            <a:endParaRPr lang="en-US" sz="1200" dirty="0"/>
          </a:p>
        </p:txBody>
      </p:sp>
      <p:sp>
        <p:nvSpPr>
          <p:cNvPr id="6" name="Shape 4"/>
          <p:cNvSpPr/>
          <p:nvPr/>
        </p:nvSpPr>
        <p:spPr>
          <a:xfrm>
            <a:off x="731520" y="1664208"/>
            <a:ext cx="10728655" cy="18288"/>
          </a:xfrm>
          <a:prstGeom prst="rect">
            <a:avLst/>
          </a:prstGeom>
          <a:solidFill>
            <a:srgbClr val="334155"/>
          </a:solidFill>
          <a:ln/>
        </p:spPr>
      </p:sp>
      <p:sp>
        <p:nvSpPr>
          <p:cNvPr id="7" name="Text 5"/>
          <p:cNvSpPr/>
          <p:nvPr/>
        </p:nvSpPr>
        <p:spPr>
          <a:xfrm>
            <a:off x="731520" y="640080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Best Computel Service &amp; RMA Management System (mybctapps v1.0)</a:t>
            </a:r>
            <a:endParaRPr lang="en-US" sz="900" dirty="0"/>
          </a:p>
        </p:txBody>
      </p:sp>
      <p:sp>
        <p:nvSpPr>
          <p:cNvPr id="8" name="Text 6"/>
          <p:cNvSpPr/>
          <p:nvPr/>
        </p:nvSpPr>
        <p:spPr>
          <a:xfrm>
            <a:off x="10515600" y="6400800"/>
            <a:ext cx="914400" cy="228600"/>
          </a:xfrm>
          <a:prstGeom prst="rect">
            <a:avLst/>
          </a:prstGeom>
          <a:noFill/>
          <a:ln/>
        </p:spPr>
        <p:txBody>
          <a:bodyPr wrap="square" lIns="0" tIns="0" rIns="0" bIns="0"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10 / 10</a:t>
            </a:r>
            <a:endParaRPr lang="en-US" sz="900" dirty="0"/>
          </a:p>
        </p:txBody>
      </p:sp>
      <p:sp>
        <p:nvSpPr>
          <p:cNvPr id="9" name="Shape 7"/>
          <p:cNvSpPr/>
          <p:nvPr/>
        </p:nvSpPr>
        <p:spPr>
          <a:xfrm>
            <a:off x="731520" y="1920240"/>
            <a:ext cx="3413455" cy="1737360"/>
          </a:xfrm>
          <a:prstGeom prst="rect">
            <a:avLst>
              <a:gd name="adj" fmla="val 4211"/>
            </a:avLst>
          </a:prstGeom>
          <a:solidFill>
            <a:srgbClr val="1E293B"/>
          </a:solidFill>
          <a:ln w="12700">
            <a:solidFill>
              <a:srgbClr val="334155"/>
            </a:solidFill>
            <a:prstDash val="solid"/>
          </a:ln>
        </p:spPr>
      </p:sp>
      <p:sp>
        <p:nvSpPr>
          <p:cNvPr id="10" name="Text 8"/>
          <p:cNvSpPr/>
          <p:nvPr/>
        </p:nvSpPr>
        <p:spPr>
          <a:xfrm>
            <a:off x="960120" y="2057400"/>
            <a:ext cx="2956255" cy="548640"/>
          </a:xfrm>
          <a:prstGeom prst="rect">
            <a:avLst/>
          </a:prstGeom>
          <a:noFill/>
          <a:ln/>
        </p:spPr>
        <p:txBody>
          <a:bodyPr wrap="square" lIns="0" tIns="0" rIns="0" bIns="0" rtlCol="0" anchor="ctr"/>
          <a:lstStyle/>
          <a:p>
            <a:pPr indent="0" marL="0">
              <a:buNone/>
            </a:pPr>
            <a:r>
              <a:rPr lang="en-US" sz="3400" b="1" dirty="0">
                <a:solidFill>
                  <a:srgbClr val="F97316"/>
                </a:solidFill>
                <a:latin typeface="Segoe UI" pitchFamily="34" charset="0"/>
                <a:ea typeface="Segoe UI" pitchFamily="34" charset="-122"/>
                <a:cs typeface="Segoe UI" pitchFamily="34" charset="-120"/>
              </a:rPr>
              <a:t>80%</a:t>
            </a:r>
            <a:endParaRPr lang="en-US" sz="3400" dirty="0"/>
          </a:p>
        </p:txBody>
      </p:sp>
      <p:sp>
        <p:nvSpPr>
          <p:cNvPr id="11" name="Text 9"/>
          <p:cNvSpPr/>
          <p:nvPr/>
        </p:nvSpPr>
        <p:spPr>
          <a:xfrm>
            <a:off x="960120" y="2606040"/>
            <a:ext cx="2956255" cy="228600"/>
          </a:xfrm>
          <a:prstGeom prst="rect">
            <a:avLst/>
          </a:prstGeom>
          <a:noFill/>
          <a:ln/>
        </p:spPr>
        <p:txBody>
          <a:bodyPr wrap="square" lIns="0" tIns="0" rIns="0" bIns="0"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WAKTU INPUT LEBIH CEPAT</a:t>
            </a:r>
            <a:endParaRPr lang="en-US" sz="900" dirty="0"/>
          </a:p>
        </p:txBody>
      </p:sp>
      <p:sp>
        <p:nvSpPr>
          <p:cNvPr id="12" name="Text 10"/>
          <p:cNvSpPr/>
          <p:nvPr/>
        </p:nvSpPr>
        <p:spPr>
          <a:xfrm>
            <a:off x="960120" y="2880360"/>
            <a:ext cx="2956255" cy="68580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Waktu registrasi tiket servis berkurang dari ~5 menit menjadi kurang dari 1 menit berkat formulir dinamis &amp; auto-formatting.</a:t>
            </a:r>
            <a:endParaRPr lang="en-US" sz="950" dirty="0"/>
          </a:p>
        </p:txBody>
      </p:sp>
      <p:sp>
        <p:nvSpPr>
          <p:cNvPr id="13" name="Shape 11"/>
          <p:cNvSpPr/>
          <p:nvPr/>
        </p:nvSpPr>
        <p:spPr>
          <a:xfrm>
            <a:off x="4389120" y="1920240"/>
            <a:ext cx="3413455" cy="1737360"/>
          </a:xfrm>
          <a:prstGeom prst="rect">
            <a:avLst>
              <a:gd name="adj" fmla="val 4211"/>
            </a:avLst>
          </a:prstGeom>
          <a:solidFill>
            <a:srgbClr val="1E293B"/>
          </a:solidFill>
          <a:ln w="12700">
            <a:solidFill>
              <a:srgbClr val="334155"/>
            </a:solidFill>
            <a:prstDash val="solid"/>
          </a:ln>
        </p:spPr>
      </p:sp>
      <p:sp>
        <p:nvSpPr>
          <p:cNvPr id="14" name="Text 12"/>
          <p:cNvSpPr/>
          <p:nvPr/>
        </p:nvSpPr>
        <p:spPr>
          <a:xfrm>
            <a:off x="4617720" y="2057400"/>
            <a:ext cx="2956255" cy="548640"/>
          </a:xfrm>
          <a:prstGeom prst="rect">
            <a:avLst/>
          </a:prstGeom>
          <a:noFill/>
          <a:ln/>
        </p:spPr>
        <p:txBody>
          <a:bodyPr wrap="square" lIns="0" tIns="0" rIns="0" bIns="0" rtlCol="0" anchor="ctr"/>
          <a:lstStyle/>
          <a:p>
            <a:pPr indent="0" marL="0">
              <a:buNone/>
            </a:pPr>
            <a:r>
              <a:rPr lang="en-US" sz="3400" b="1" dirty="0">
                <a:solidFill>
                  <a:srgbClr val="F97316"/>
                </a:solidFill>
                <a:latin typeface="Segoe UI" pitchFamily="34" charset="0"/>
                <a:ea typeface="Segoe UI" pitchFamily="34" charset="-122"/>
                <a:cs typeface="Segoe UI" pitchFamily="34" charset="-120"/>
              </a:rPr>
              <a:t>100%</a:t>
            </a:r>
            <a:endParaRPr lang="en-US" sz="3400" dirty="0"/>
          </a:p>
        </p:txBody>
      </p:sp>
      <p:sp>
        <p:nvSpPr>
          <p:cNvPr id="15" name="Text 13"/>
          <p:cNvSpPr/>
          <p:nvPr/>
        </p:nvSpPr>
        <p:spPr>
          <a:xfrm>
            <a:off x="4617720" y="2606040"/>
            <a:ext cx="2956255" cy="228600"/>
          </a:xfrm>
          <a:prstGeom prst="rect">
            <a:avLst/>
          </a:prstGeom>
          <a:noFill/>
          <a:ln/>
        </p:spPr>
        <p:txBody>
          <a:bodyPr wrap="square" lIns="0" tIns="0" rIns="0" bIns="0"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PELACAKAN GARANSI VENDOR</a:t>
            </a:r>
            <a:endParaRPr lang="en-US" sz="900" dirty="0"/>
          </a:p>
        </p:txBody>
      </p:sp>
      <p:sp>
        <p:nvSpPr>
          <p:cNvPr id="16" name="Text 14"/>
          <p:cNvSpPr/>
          <p:nvPr/>
        </p:nvSpPr>
        <p:spPr>
          <a:xfrm>
            <a:off x="4617720" y="2880360"/>
            <a:ext cx="2956255" cy="68580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Nol kasus unit garansi hilang di distributor tanpa nomor Surat Jalan baku dan nomor resi pengiriman ekspedisi.</a:t>
            </a:r>
            <a:endParaRPr lang="en-US" sz="950" dirty="0"/>
          </a:p>
        </p:txBody>
      </p:sp>
      <p:sp>
        <p:nvSpPr>
          <p:cNvPr id="17" name="Shape 15"/>
          <p:cNvSpPr/>
          <p:nvPr/>
        </p:nvSpPr>
        <p:spPr>
          <a:xfrm>
            <a:off x="8046720" y="1920240"/>
            <a:ext cx="3413455" cy="1737360"/>
          </a:xfrm>
          <a:prstGeom prst="rect">
            <a:avLst>
              <a:gd name="adj" fmla="val 4211"/>
            </a:avLst>
          </a:prstGeom>
          <a:solidFill>
            <a:srgbClr val="1E293B"/>
          </a:solidFill>
          <a:ln w="12700">
            <a:solidFill>
              <a:srgbClr val="334155"/>
            </a:solidFill>
            <a:prstDash val="solid"/>
          </a:ln>
        </p:spPr>
      </p:sp>
      <p:sp>
        <p:nvSpPr>
          <p:cNvPr id="18" name="Text 16"/>
          <p:cNvSpPr/>
          <p:nvPr/>
        </p:nvSpPr>
        <p:spPr>
          <a:xfrm>
            <a:off x="8275320" y="2057400"/>
            <a:ext cx="2956255" cy="548640"/>
          </a:xfrm>
          <a:prstGeom prst="rect">
            <a:avLst/>
          </a:prstGeom>
          <a:noFill/>
          <a:ln/>
        </p:spPr>
        <p:txBody>
          <a:bodyPr wrap="square" lIns="0" tIns="0" rIns="0" bIns="0" rtlCol="0" anchor="ctr"/>
          <a:lstStyle/>
          <a:p>
            <a:pPr indent="0" marL="0">
              <a:buNone/>
            </a:pPr>
            <a:r>
              <a:rPr lang="en-US" sz="3400" b="1" dirty="0">
                <a:solidFill>
                  <a:srgbClr val="F97316"/>
                </a:solidFill>
                <a:latin typeface="Segoe UI" pitchFamily="34" charset="0"/>
                <a:ea typeface="Segoe UI" pitchFamily="34" charset="-122"/>
                <a:cs typeface="Segoe UI" pitchFamily="34" charset="-120"/>
              </a:rPr>
              <a:t>2x</a:t>
            </a:r>
            <a:endParaRPr lang="en-US" sz="3400" dirty="0"/>
          </a:p>
        </p:txBody>
      </p:sp>
      <p:sp>
        <p:nvSpPr>
          <p:cNvPr id="19" name="Text 17"/>
          <p:cNvSpPr/>
          <p:nvPr/>
        </p:nvSpPr>
        <p:spPr>
          <a:xfrm>
            <a:off x="8275320" y="2606040"/>
            <a:ext cx="2956255" cy="228600"/>
          </a:xfrm>
          <a:prstGeom prst="rect">
            <a:avLst/>
          </a:prstGeom>
          <a:noFill/>
          <a:ln/>
        </p:spPr>
        <p:txBody>
          <a:bodyPr wrap="square" lIns="0" tIns="0" rIns="0" bIns="0"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PERPUTARAN STOK TOKO</a:t>
            </a:r>
            <a:endParaRPr lang="en-US" sz="900" dirty="0"/>
          </a:p>
        </p:txBody>
      </p:sp>
      <p:sp>
        <p:nvSpPr>
          <p:cNvPr id="20" name="Text 18"/>
          <p:cNvSpPr/>
          <p:nvPr/>
        </p:nvSpPr>
        <p:spPr>
          <a:xfrm>
            <a:off x="8275320" y="2880360"/>
            <a:ext cx="2956255" cy="68580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Unit inventaris internal (STOCK BCT / GHITP) yang selesai klaim garansi langsung teridentifikasi oleh Tim Sales untuk dipajang kembali.</a:t>
            </a:r>
            <a:endParaRPr lang="en-US" sz="950" dirty="0"/>
          </a:p>
        </p:txBody>
      </p:sp>
      <p:sp>
        <p:nvSpPr>
          <p:cNvPr id="21" name="Shape 19"/>
          <p:cNvSpPr/>
          <p:nvPr/>
        </p:nvSpPr>
        <p:spPr>
          <a:xfrm>
            <a:off x="731520" y="3886200"/>
            <a:ext cx="10728655" cy="2240280"/>
          </a:xfrm>
          <a:prstGeom prst="rect">
            <a:avLst>
              <a:gd name="adj" fmla="val 3265"/>
            </a:avLst>
          </a:prstGeom>
          <a:solidFill>
            <a:srgbClr val="1E293B"/>
          </a:solidFill>
          <a:ln w="12700">
            <a:solidFill>
              <a:srgbClr val="334155"/>
            </a:solidFill>
            <a:prstDash val="solid"/>
          </a:ln>
        </p:spPr>
      </p:sp>
      <p:sp>
        <p:nvSpPr>
          <p:cNvPr id="22" name="Shape 20"/>
          <p:cNvSpPr/>
          <p:nvPr/>
        </p:nvSpPr>
        <p:spPr>
          <a:xfrm>
            <a:off x="731520" y="3886200"/>
            <a:ext cx="73152" cy="2240280"/>
          </a:xfrm>
          <a:prstGeom prst="rect">
            <a:avLst/>
          </a:prstGeom>
          <a:solidFill>
            <a:srgbClr val="3B82F6"/>
          </a:solidFill>
          <a:ln/>
        </p:spPr>
      </p:sp>
      <p:sp>
        <p:nvSpPr>
          <p:cNvPr id="23" name="Text 21"/>
          <p:cNvSpPr/>
          <p:nvPr/>
        </p:nvSpPr>
        <p:spPr>
          <a:xfrm>
            <a:off x="960120" y="4069080"/>
            <a:ext cx="10317175"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Roadmap Pengembangan Selanjutnya (Next Milestones)</a:t>
            </a:r>
            <a:endParaRPr lang="en-US" sz="1400" dirty="0"/>
          </a:p>
        </p:txBody>
      </p:sp>
      <p:sp>
        <p:nvSpPr>
          <p:cNvPr id="24" name="Shape 22"/>
          <p:cNvSpPr/>
          <p:nvPr/>
        </p:nvSpPr>
        <p:spPr>
          <a:xfrm>
            <a:off x="960120" y="4526280"/>
            <a:ext cx="822960" cy="219456"/>
          </a:xfrm>
          <a:prstGeom prst="rect">
            <a:avLst>
              <a:gd name="adj" fmla="val 16667"/>
            </a:avLst>
          </a:prstGeom>
          <a:solidFill>
            <a:srgbClr val="0F172A"/>
          </a:solidFill>
          <a:ln w="12700">
            <a:solidFill>
              <a:srgbClr val="3B82F6"/>
            </a:solidFill>
            <a:prstDash val="solid"/>
          </a:ln>
        </p:spPr>
      </p:sp>
      <p:sp>
        <p:nvSpPr>
          <p:cNvPr id="25" name="Text 23"/>
          <p:cNvSpPr/>
          <p:nvPr/>
        </p:nvSpPr>
        <p:spPr>
          <a:xfrm>
            <a:off x="960120" y="4544568"/>
            <a:ext cx="822960" cy="182880"/>
          </a:xfrm>
          <a:prstGeom prst="rect">
            <a:avLst/>
          </a:prstGeom>
          <a:noFill/>
          <a:ln/>
        </p:spPr>
        <p:txBody>
          <a:bodyPr wrap="square" lIns="0" tIns="0" rIns="0" bIns="0" rtlCol="0" anchor="ctr"/>
          <a:lstStyle/>
          <a:p>
            <a:pPr algn="ctr" indent="0" marL="0">
              <a:buNone/>
            </a:pPr>
            <a:r>
              <a:rPr lang="en-US" sz="850" b="1" dirty="0">
                <a:solidFill>
                  <a:srgbClr val="3B82F6"/>
                </a:solidFill>
                <a:latin typeface="Segoe UI" pitchFamily="34" charset="0"/>
                <a:ea typeface="Segoe UI" pitchFamily="34" charset="-122"/>
                <a:cs typeface="Segoe UI" pitchFamily="34" charset="-120"/>
              </a:rPr>
              <a:t>Fase 2 (Q4)</a:t>
            </a:r>
            <a:endParaRPr lang="en-US" sz="850" dirty="0"/>
          </a:p>
        </p:txBody>
      </p:sp>
      <p:sp>
        <p:nvSpPr>
          <p:cNvPr id="26" name="Text 24"/>
          <p:cNvSpPr/>
          <p:nvPr/>
        </p:nvSpPr>
        <p:spPr>
          <a:xfrm>
            <a:off x="960120" y="4818888"/>
            <a:ext cx="3291840" cy="274320"/>
          </a:xfrm>
          <a:prstGeom prst="rect">
            <a:avLst/>
          </a:prstGeom>
          <a:noFill/>
          <a:ln/>
        </p:spPr>
        <p:txBody>
          <a:bodyPr wrap="square" lIns="0" tIns="0" rIns="0" bIns="0"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Direct Bluetooth Thermal Printing</a:t>
            </a:r>
            <a:endParaRPr lang="en-US" sz="1150" dirty="0"/>
          </a:p>
        </p:txBody>
      </p:sp>
      <p:sp>
        <p:nvSpPr>
          <p:cNvPr id="27" name="Text 25"/>
          <p:cNvSpPr/>
          <p:nvPr/>
        </p:nvSpPr>
        <p:spPr>
          <a:xfrm>
            <a:off x="960120" y="5120640"/>
            <a:ext cx="3108960" cy="86868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Pencetakan struk nota tanda terima langsung ke printer thermal 80mm meja teknisi melalui Web Bluetooth API tanpa dialog print browser.</a:t>
            </a:r>
            <a:endParaRPr lang="en-US" sz="950" dirty="0"/>
          </a:p>
        </p:txBody>
      </p:sp>
      <p:sp>
        <p:nvSpPr>
          <p:cNvPr id="28" name="Shape 26"/>
          <p:cNvSpPr/>
          <p:nvPr/>
        </p:nvSpPr>
        <p:spPr>
          <a:xfrm>
            <a:off x="4434840" y="4526280"/>
            <a:ext cx="822960" cy="219456"/>
          </a:xfrm>
          <a:prstGeom prst="rect">
            <a:avLst>
              <a:gd name="adj" fmla="val 16667"/>
            </a:avLst>
          </a:prstGeom>
          <a:solidFill>
            <a:srgbClr val="0F172A"/>
          </a:solidFill>
          <a:ln w="12700">
            <a:solidFill>
              <a:srgbClr val="3B82F6"/>
            </a:solidFill>
            <a:prstDash val="solid"/>
          </a:ln>
        </p:spPr>
      </p:sp>
      <p:sp>
        <p:nvSpPr>
          <p:cNvPr id="29" name="Text 27"/>
          <p:cNvSpPr/>
          <p:nvPr/>
        </p:nvSpPr>
        <p:spPr>
          <a:xfrm>
            <a:off x="4434840" y="4544568"/>
            <a:ext cx="822960" cy="182880"/>
          </a:xfrm>
          <a:prstGeom prst="rect">
            <a:avLst/>
          </a:prstGeom>
          <a:noFill/>
          <a:ln/>
        </p:spPr>
        <p:txBody>
          <a:bodyPr wrap="square" lIns="0" tIns="0" rIns="0" bIns="0" rtlCol="0" anchor="ctr"/>
          <a:lstStyle/>
          <a:p>
            <a:pPr algn="ctr" indent="0" marL="0">
              <a:buNone/>
            </a:pPr>
            <a:r>
              <a:rPr lang="en-US" sz="850" b="1" dirty="0">
                <a:solidFill>
                  <a:srgbClr val="3B82F6"/>
                </a:solidFill>
                <a:latin typeface="Segoe UI" pitchFamily="34" charset="0"/>
                <a:ea typeface="Segoe UI" pitchFamily="34" charset="-122"/>
                <a:cs typeface="Segoe UI" pitchFamily="34" charset="-120"/>
              </a:rPr>
              <a:t>Fase 3 (Q1)</a:t>
            </a:r>
            <a:endParaRPr lang="en-US" sz="850" dirty="0"/>
          </a:p>
        </p:txBody>
      </p:sp>
      <p:sp>
        <p:nvSpPr>
          <p:cNvPr id="30" name="Text 28"/>
          <p:cNvSpPr/>
          <p:nvPr/>
        </p:nvSpPr>
        <p:spPr>
          <a:xfrm>
            <a:off x="4434840" y="4818888"/>
            <a:ext cx="3291840" cy="274320"/>
          </a:xfrm>
          <a:prstGeom prst="rect">
            <a:avLst/>
          </a:prstGeom>
          <a:noFill/>
          <a:ln/>
        </p:spPr>
        <p:txBody>
          <a:bodyPr wrap="square" lIns="0" tIns="0" rIns="0" bIns="0"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Modul Inventaris Sparepart Terintegrasi</a:t>
            </a:r>
            <a:endParaRPr lang="en-US" sz="1150" dirty="0"/>
          </a:p>
        </p:txBody>
      </p:sp>
      <p:sp>
        <p:nvSpPr>
          <p:cNvPr id="31" name="Text 29"/>
          <p:cNvSpPr/>
          <p:nvPr/>
        </p:nvSpPr>
        <p:spPr>
          <a:xfrm>
            <a:off x="4434840" y="5120640"/>
            <a:ext cx="3108960" cy="86868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Pencatatan pemakaian sparepart (SSD, RAM, LCD, Baterai) yang otomatis memotong stok gudang saat status pengerjaan tiket ditandai selesai.</a:t>
            </a:r>
            <a:endParaRPr lang="en-US" sz="950" dirty="0"/>
          </a:p>
        </p:txBody>
      </p:sp>
      <p:sp>
        <p:nvSpPr>
          <p:cNvPr id="32" name="Shape 30"/>
          <p:cNvSpPr/>
          <p:nvPr/>
        </p:nvSpPr>
        <p:spPr>
          <a:xfrm>
            <a:off x="7909560" y="4526280"/>
            <a:ext cx="822960" cy="219456"/>
          </a:xfrm>
          <a:prstGeom prst="rect">
            <a:avLst>
              <a:gd name="adj" fmla="val 16667"/>
            </a:avLst>
          </a:prstGeom>
          <a:solidFill>
            <a:srgbClr val="0F172A"/>
          </a:solidFill>
          <a:ln w="12700">
            <a:solidFill>
              <a:srgbClr val="3B82F6"/>
            </a:solidFill>
            <a:prstDash val="solid"/>
          </a:ln>
        </p:spPr>
      </p:sp>
      <p:sp>
        <p:nvSpPr>
          <p:cNvPr id="33" name="Text 31"/>
          <p:cNvSpPr/>
          <p:nvPr/>
        </p:nvSpPr>
        <p:spPr>
          <a:xfrm>
            <a:off x="7909560" y="4544568"/>
            <a:ext cx="822960" cy="182880"/>
          </a:xfrm>
          <a:prstGeom prst="rect">
            <a:avLst/>
          </a:prstGeom>
          <a:noFill/>
          <a:ln/>
        </p:spPr>
        <p:txBody>
          <a:bodyPr wrap="square" lIns="0" tIns="0" rIns="0" bIns="0" rtlCol="0" anchor="ctr"/>
          <a:lstStyle/>
          <a:p>
            <a:pPr algn="ctr" indent="0" marL="0">
              <a:buNone/>
            </a:pPr>
            <a:r>
              <a:rPr lang="en-US" sz="850" b="1" dirty="0">
                <a:solidFill>
                  <a:srgbClr val="3B82F6"/>
                </a:solidFill>
                <a:latin typeface="Segoe UI" pitchFamily="34" charset="0"/>
                <a:ea typeface="Segoe UI" pitchFamily="34" charset="-122"/>
                <a:cs typeface="Segoe UI" pitchFamily="34" charset="-120"/>
              </a:rPr>
              <a:t>Fase 4 (Q2)</a:t>
            </a:r>
            <a:endParaRPr lang="en-US" sz="850" dirty="0"/>
          </a:p>
        </p:txBody>
      </p:sp>
      <p:sp>
        <p:nvSpPr>
          <p:cNvPr id="34" name="Text 32"/>
          <p:cNvSpPr/>
          <p:nvPr/>
        </p:nvSpPr>
        <p:spPr>
          <a:xfrm>
            <a:off x="7909560" y="4818888"/>
            <a:ext cx="3291840" cy="274320"/>
          </a:xfrm>
          <a:prstGeom prst="rect">
            <a:avLst/>
          </a:prstGeom>
          <a:noFill/>
          <a:ln/>
        </p:spPr>
        <p:txBody>
          <a:bodyPr wrap="square" lIns="0" tIns="0" rIns="0" bIns="0"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Portal Pelacakan Publik (QR Code)</a:t>
            </a:r>
            <a:endParaRPr lang="en-US" sz="1150" dirty="0"/>
          </a:p>
        </p:txBody>
      </p:sp>
      <p:sp>
        <p:nvSpPr>
          <p:cNvPr id="35" name="Text 33"/>
          <p:cNvSpPr/>
          <p:nvPr/>
        </p:nvSpPr>
        <p:spPr>
          <a:xfrm>
            <a:off x="7909560" y="5120640"/>
            <a:ext cx="3108960" cy="868680"/>
          </a:xfrm>
          <a:prstGeom prst="rect">
            <a:avLst/>
          </a:prstGeom>
          <a:noFill/>
          <a:ln/>
        </p:spPr>
        <p:txBody>
          <a:bodyPr wrap="square" lIns="0" tIns="0" rIns="0" bIns="0"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Pelanggan dapat memantau progres servis secara mandiri secara online cukup dengan memindai kode QR yang tertera pada nota fisik tanda terima.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2026-09-12T15:32:47Z</dcterms:created>
  <dcterms:modified xsi:type="dcterms:W3CDTF">2026-09-12T15:32:47Z</dcterms:modified>
</cp:coreProperties>
</file>